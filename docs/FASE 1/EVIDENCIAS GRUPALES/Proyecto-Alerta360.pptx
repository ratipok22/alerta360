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Barlow" panose="00000500000000000000" pitchFamily="2" charset="0"/>
      <p:regular r:id="rId12"/>
    </p:embeddedFont>
    <p:embeddedFont>
      <p:font typeface="Barlow Bold" panose="020B0604020202020204" charset="0"/>
      <p:regular r:id="rId13"/>
    </p:embeddedFont>
    <p:embeddedFont>
      <p:font typeface="Barlow Medium" panose="000006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gamma.app/?utm_source=made-with-gamma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20.png"/><Relationship Id="rId4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6863191" cy="10295039"/>
            <a:chOff x="0" y="0"/>
            <a:chExt cx="9150922" cy="137267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4823" t="-623" r="-1500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236490" y="855493"/>
            <a:ext cx="9146510" cy="2041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454"/>
              </a:lnSpc>
            </a:pPr>
            <a:r>
              <a:rPr lang="en-US" sz="13986" b="1" dirty="0" err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Alerta</a:t>
            </a:r>
            <a:r>
              <a:rPr lang="en-US" sz="13986" b="1" dirty="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 360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58652" y="3678030"/>
            <a:ext cx="4384735" cy="410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7"/>
              </a:lnSpc>
            </a:pPr>
            <a:r>
              <a:rPr lang="en-US" sz="2577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INTEGRANTES DEL PROYECTO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143491" y="4498439"/>
            <a:ext cx="7319990" cy="1341967"/>
            <a:chOff x="0" y="0"/>
            <a:chExt cx="13698359" cy="25113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698288" cy="2511269"/>
            </a:xfrm>
            <a:custGeom>
              <a:avLst/>
              <a:gdLst/>
              <a:ahLst/>
              <a:cxnLst/>
              <a:rect l="l" t="t" r="r" b="b"/>
              <a:pathLst>
                <a:path w="13698288" h="2511269">
                  <a:moveTo>
                    <a:pt x="0" y="133316"/>
                  </a:moveTo>
                  <a:cubicBezTo>
                    <a:pt x="0" y="59749"/>
                    <a:pt x="88410" y="0"/>
                    <a:pt x="197265" y="0"/>
                  </a:cubicBezTo>
                  <a:lnTo>
                    <a:pt x="13501022" y="0"/>
                  </a:lnTo>
                  <a:cubicBezTo>
                    <a:pt x="13610019" y="0"/>
                    <a:pt x="13698288" y="59749"/>
                    <a:pt x="13698288" y="133316"/>
                  </a:cubicBezTo>
                  <a:lnTo>
                    <a:pt x="13698288" y="2377953"/>
                  </a:lnTo>
                  <a:cubicBezTo>
                    <a:pt x="13698288" y="2451615"/>
                    <a:pt x="13609879" y="2511269"/>
                    <a:pt x="13501022" y="2511269"/>
                  </a:cubicBezTo>
                  <a:lnTo>
                    <a:pt x="197265" y="2511269"/>
                  </a:lnTo>
                  <a:cubicBezTo>
                    <a:pt x="88410" y="2511269"/>
                    <a:pt x="0" y="2451615"/>
                    <a:pt x="0" y="2377953"/>
                  </a:cubicBezTo>
                  <a:close/>
                </a:path>
              </a:pathLst>
            </a:custGeom>
            <a:solidFill>
              <a:srgbClr val="790709"/>
            </a:solidFill>
            <a:ln w="19065" cap="sq">
              <a:solidFill>
                <a:srgbClr val="922022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09372" y="4587958"/>
            <a:ext cx="2041647" cy="30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85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Benjamin Saavedra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09372" y="4965377"/>
            <a:ext cx="7016228" cy="65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1687" b="1" dirty="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Cargo: 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Frontend.</a:t>
            </a:r>
          </a:p>
          <a:p>
            <a:pPr algn="l">
              <a:lnSpc>
                <a:spcPts val="2693"/>
              </a:lnSpc>
            </a:pPr>
            <a:r>
              <a:rPr lang="en-US" sz="1687" b="1" dirty="0" err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Función: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Desarrollo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interfaz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mapas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, dashboard e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integración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con API.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472571" y="6253386"/>
            <a:ext cx="7319990" cy="1318419"/>
            <a:chOff x="0" y="0"/>
            <a:chExt cx="13698359" cy="246724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98288" cy="2467204"/>
            </a:xfrm>
            <a:custGeom>
              <a:avLst/>
              <a:gdLst/>
              <a:ahLst/>
              <a:cxnLst/>
              <a:rect l="l" t="t" r="r" b="b"/>
              <a:pathLst>
                <a:path w="13698288" h="2467204">
                  <a:moveTo>
                    <a:pt x="0" y="130976"/>
                  </a:moveTo>
                  <a:cubicBezTo>
                    <a:pt x="0" y="58701"/>
                    <a:pt x="88410" y="0"/>
                    <a:pt x="197265" y="0"/>
                  </a:cubicBezTo>
                  <a:lnTo>
                    <a:pt x="13501022" y="0"/>
                  </a:lnTo>
                  <a:cubicBezTo>
                    <a:pt x="13610019" y="0"/>
                    <a:pt x="13698288" y="58701"/>
                    <a:pt x="13698288" y="130976"/>
                  </a:cubicBezTo>
                  <a:lnTo>
                    <a:pt x="13698288" y="2336227"/>
                  </a:lnTo>
                  <a:cubicBezTo>
                    <a:pt x="13698288" y="2408597"/>
                    <a:pt x="13609879" y="2467204"/>
                    <a:pt x="13501022" y="2467204"/>
                  </a:cubicBezTo>
                  <a:lnTo>
                    <a:pt x="197265" y="2467204"/>
                  </a:lnTo>
                  <a:cubicBezTo>
                    <a:pt x="88410" y="2467204"/>
                    <a:pt x="0" y="2408597"/>
                    <a:pt x="0" y="2336227"/>
                  </a:cubicBezTo>
                  <a:close/>
                </a:path>
              </a:pathLst>
            </a:custGeom>
            <a:solidFill>
              <a:srgbClr val="790709"/>
            </a:solidFill>
            <a:ln w="19065" cap="sq">
              <a:solidFill>
                <a:srgbClr val="922022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638452" y="6342905"/>
            <a:ext cx="1364439" cy="30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85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Bruno Molina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38451" y="6720324"/>
            <a:ext cx="7154071" cy="65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1687" b="1" dirty="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Cargo: 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Datos y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algoritmos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  <a:p>
            <a:pPr algn="l">
              <a:lnSpc>
                <a:spcPts val="2693"/>
              </a:lnSpc>
            </a:pPr>
            <a:r>
              <a:rPr lang="en-US" sz="1687" b="1" dirty="0" err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Función: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Preparación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datos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algoritmo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asignación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y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modelo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predictivo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143491" y="7981380"/>
            <a:ext cx="7319990" cy="1276920"/>
            <a:chOff x="0" y="0"/>
            <a:chExt cx="13698359" cy="23895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698288" cy="2389544"/>
            </a:xfrm>
            <a:custGeom>
              <a:avLst/>
              <a:gdLst/>
              <a:ahLst/>
              <a:cxnLst/>
              <a:rect l="l" t="t" r="r" b="b"/>
              <a:pathLst>
                <a:path w="13698288" h="2389544">
                  <a:moveTo>
                    <a:pt x="0" y="126854"/>
                  </a:moveTo>
                  <a:cubicBezTo>
                    <a:pt x="0" y="56853"/>
                    <a:pt x="88410" y="0"/>
                    <a:pt x="197265" y="0"/>
                  </a:cubicBezTo>
                  <a:lnTo>
                    <a:pt x="13501022" y="0"/>
                  </a:lnTo>
                  <a:cubicBezTo>
                    <a:pt x="13610019" y="0"/>
                    <a:pt x="13698288" y="56853"/>
                    <a:pt x="13698288" y="126854"/>
                  </a:cubicBezTo>
                  <a:lnTo>
                    <a:pt x="13698288" y="2262691"/>
                  </a:lnTo>
                  <a:cubicBezTo>
                    <a:pt x="13698288" y="2332782"/>
                    <a:pt x="13609879" y="2389544"/>
                    <a:pt x="13501022" y="2389544"/>
                  </a:cubicBezTo>
                  <a:lnTo>
                    <a:pt x="197265" y="2389544"/>
                  </a:lnTo>
                  <a:cubicBezTo>
                    <a:pt x="88410" y="2389544"/>
                    <a:pt x="0" y="2332782"/>
                    <a:pt x="0" y="2262691"/>
                  </a:cubicBezTo>
                  <a:close/>
                </a:path>
              </a:pathLst>
            </a:custGeom>
            <a:solidFill>
              <a:srgbClr val="790709"/>
            </a:solidFill>
            <a:ln w="19065" cap="sq">
              <a:solidFill>
                <a:srgbClr val="922022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309372" y="8070899"/>
            <a:ext cx="2153710" cy="30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85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Alexsander Aravena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09372" y="8448318"/>
            <a:ext cx="6330428" cy="6501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1687" b="1" dirty="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Cargo: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Coordinación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y Backend.</a:t>
            </a:r>
          </a:p>
          <a:p>
            <a:pPr algn="l">
              <a:lnSpc>
                <a:spcPts val="2693"/>
              </a:lnSpc>
            </a:pPr>
            <a:r>
              <a:rPr lang="en-US" sz="1687" b="1" dirty="0" err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Función</a:t>
            </a:r>
            <a:r>
              <a:rPr lang="en-US" sz="1687" b="1" dirty="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: 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API,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lógica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negocio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, base de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datos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e </a:t>
            </a:r>
            <a:r>
              <a:rPr lang="en-US" sz="1687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integración</a:t>
            </a:r>
            <a:r>
              <a:rPr lang="en-US" sz="1687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7359" y="0"/>
            <a:ext cx="8378048" cy="10287000"/>
            <a:chOff x="0" y="0"/>
            <a:chExt cx="13592531" cy="166896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592556" cy="16689674"/>
            </a:xfrm>
            <a:custGeom>
              <a:avLst/>
              <a:gdLst/>
              <a:ahLst/>
              <a:cxnLst/>
              <a:rect l="l" t="t" r="r" b="b"/>
              <a:pathLst>
                <a:path w="13592556" h="16689674">
                  <a:moveTo>
                    <a:pt x="0" y="0"/>
                  </a:moveTo>
                  <a:lnTo>
                    <a:pt x="13592556" y="0"/>
                  </a:lnTo>
                  <a:lnTo>
                    <a:pt x="13592556" y="16689674"/>
                  </a:lnTo>
                  <a:lnTo>
                    <a:pt x="0" y="16689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8417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6624017"/>
            <a:ext cx="8065065" cy="1937449"/>
            <a:chOff x="0" y="0"/>
            <a:chExt cx="10753420" cy="25832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53420" cy="2583266"/>
            </a:xfrm>
            <a:custGeom>
              <a:avLst/>
              <a:gdLst/>
              <a:ahLst/>
              <a:cxnLst/>
              <a:rect l="l" t="t" r="r" b="b"/>
              <a:pathLst>
                <a:path w="10753420" h="2583266">
                  <a:moveTo>
                    <a:pt x="0" y="105345"/>
                  </a:moveTo>
                  <a:cubicBezTo>
                    <a:pt x="0" y="47174"/>
                    <a:pt x="124075" y="0"/>
                    <a:pt x="277074" y="0"/>
                  </a:cubicBezTo>
                  <a:lnTo>
                    <a:pt x="10476347" y="0"/>
                  </a:lnTo>
                  <a:cubicBezTo>
                    <a:pt x="10629345" y="0"/>
                    <a:pt x="10753420" y="47174"/>
                    <a:pt x="10753420" y="105345"/>
                  </a:cubicBezTo>
                  <a:lnTo>
                    <a:pt x="10753420" y="2477920"/>
                  </a:lnTo>
                  <a:cubicBezTo>
                    <a:pt x="10753420" y="2536092"/>
                    <a:pt x="10629345" y="2583266"/>
                    <a:pt x="10476347" y="2583266"/>
                  </a:cubicBezTo>
                  <a:lnTo>
                    <a:pt x="277074" y="2583266"/>
                  </a:lnTo>
                  <a:cubicBezTo>
                    <a:pt x="124075" y="2583265"/>
                    <a:pt x="0" y="2536092"/>
                    <a:pt x="0" y="2477920"/>
                  </a:cubicBezTo>
                  <a:close/>
                </a:path>
              </a:pathLst>
            </a:custGeom>
            <a:solidFill>
              <a:srgbClr val="790709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0" y="369974"/>
            <a:ext cx="7598718" cy="871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dirty="0" err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Descripción</a:t>
            </a:r>
            <a:r>
              <a:rPr lang="en-US" sz="5479" b="1" dirty="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 del Proyecto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50920" y="2554065"/>
            <a:ext cx="3484170" cy="48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3"/>
              </a:lnSpc>
            </a:pPr>
            <a:r>
              <a:rPr lang="en-US" sz="3128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¿Qué es Alerta 360?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50920" y="3371427"/>
            <a:ext cx="9137080" cy="1961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</a:pPr>
            <a:r>
              <a:rPr lang="en-US" sz="2476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Sistema de apoyo a la toma de decisiones para centrales de emergencia, orientado a mejorar la gestión y asignación de recursos mediante datos operativos, históricos y análisis predictivos.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87678" y="7342354"/>
            <a:ext cx="7921387" cy="9708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53"/>
              </a:lnSpc>
            </a:pPr>
            <a:r>
              <a:rPr lang="en-US" sz="2476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Gestión</a:t>
            </a:r>
            <a:r>
              <a:rPr lang="en-US" sz="2476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2476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emergencias</a:t>
            </a:r>
            <a:r>
              <a:rPr lang="en-US" sz="2476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· </a:t>
            </a:r>
            <a:r>
              <a:rPr lang="en-US" sz="2476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Gestión</a:t>
            </a:r>
            <a:r>
              <a:rPr lang="en-US" sz="2476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2476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recursos</a:t>
            </a:r>
            <a:r>
              <a:rPr lang="en-US" sz="2476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· Mapas · </a:t>
            </a:r>
            <a:r>
              <a:rPr lang="en-US" sz="2476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Asignación</a:t>
            </a:r>
            <a:r>
              <a:rPr lang="en-US" sz="2476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76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prioritaria</a:t>
            </a:r>
            <a:r>
              <a:rPr lang="en-US" sz="2476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· </a:t>
            </a:r>
            <a:r>
              <a:rPr lang="en-US" sz="2476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Predicción</a:t>
            </a:r>
            <a:r>
              <a:rPr lang="en-US" sz="2476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2476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demanda</a:t>
            </a:r>
            <a:endParaRPr lang="en-US" sz="2476" dirty="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287678" y="6787326"/>
            <a:ext cx="3894922" cy="396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dirty="0" err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Funciones</a:t>
            </a:r>
            <a:r>
              <a:rPr lang="en-US" sz="2702" b="1" dirty="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 </a:t>
            </a:r>
            <a:r>
              <a:rPr lang="en-US" sz="2702" b="1" dirty="0" err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principales</a:t>
            </a:r>
            <a:endParaRPr lang="en-US" sz="2702" b="1" dirty="0">
              <a:solidFill>
                <a:srgbClr val="FFFFFF"/>
              </a:solidFill>
              <a:latin typeface="Barlow Bold"/>
              <a:ea typeface="Barlow Bold"/>
              <a:cs typeface="Barlow Bold"/>
              <a:sym typeface="Barlow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6628307" y="9846183"/>
            <a:ext cx="1609020" cy="384353"/>
            <a:chOff x="0" y="0"/>
            <a:chExt cx="2145360" cy="512470"/>
          </a:xfrm>
        </p:grpSpPr>
        <p:sp>
          <p:nvSpPr>
            <p:cNvPr id="4" name="Freeform 4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145411" cy="512445"/>
            </a:xfrm>
            <a:custGeom>
              <a:avLst/>
              <a:gdLst/>
              <a:ahLst/>
              <a:cxnLst/>
              <a:rect l="l" t="t" r="r" b="b"/>
              <a:pathLst>
                <a:path w="2145411" h="512445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-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854876" y="0"/>
            <a:ext cx="7446963" cy="10295039"/>
            <a:chOff x="0" y="0"/>
            <a:chExt cx="9929285" cy="13726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929216" cy="13726668"/>
            </a:xfrm>
            <a:custGeom>
              <a:avLst/>
              <a:gdLst/>
              <a:ahLst/>
              <a:cxnLst/>
              <a:rect l="l" t="t" r="r" b="b"/>
              <a:pathLst>
                <a:path w="9929216" h="13726668">
                  <a:moveTo>
                    <a:pt x="0" y="0"/>
                  </a:moveTo>
                  <a:lnTo>
                    <a:pt x="9929216" y="0"/>
                  </a:lnTo>
                  <a:lnTo>
                    <a:pt x="9929216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10065" t="-931" b="-93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01214" y="4688006"/>
            <a:ext cx="9836755" cy="1703012"/>
            <a:chOff x="0" y="0"/>
            <a:chExt cx="11648816" cy="20167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648756" cy="2016698"/>
            </a:xfrm>
            <a:custGeom>
              <a:avLst/>
              <a:gdLst/>
              <a:ahLst/>
              <a:cxnLst/>
              <a:rect l="l" t="t" r="r" b="b"/>
              <a:pathLst>
                <a:path w="11648756" h="2016698">
                  <a:moveTo>
                    <a:pt x="0" y="107060"/>
                  </a:moveTo>
                  <a:cubicBezTo>
                    <a:pt x="0" y="47982"/>
                    <a:pt x="75182" y="0"/>
                    <a:pt x="167750" y="0"/>
                  </a:cubicBezTo>
                  <a:lnTo>
                    <a:pt x="11481005" y="0"/>
                  </a:lnTo>
                  <a:cubicBezTo>
                    <a:pt x="11573694" y="0"/>
                    <a:pt x="11648756" y="47982"/>
                    <a:pt x="11648756" y="107060"/>
                  </a:cubicBezTo>
                  <a:lnTo>
                    <a:pt x="11648756" y="1909638"/>
                  </a:lnTo>
                  <a:cubicBezTo>
                    <a:pt x="11648756" y="1968793"/>
                    <a:pt x="11573574" y="2016698"/>
                    <a:pt x="11481005" y="2016698"/>
                  </a:cubicBezTo>
                  <a:lnTo>
                    <a:pt x="167750" y="2016698"/>
                  </a:lnTo>
                  <a:cubicBezTo>
                    <a:pt x="75182" y="2016698"/>
                    <a:pt x="0" y="1968793"/>
                    <a:pt x="0" y="1909638"/>
                  </a:cubicBezTo>
                  <a:close/>
                </a:path>
              </a:pathLst>
            </a:custGeom>
            <a:solidFill>
              <a:srgbClr val="000000">
                <a:alpha val="43922"/>
              </a:srgbClr>
            </a:solidFill>
            <a:ln w="19065" cap="sq">
              <a:solidFill>
                <a:srgbClr val="922022">
                  <a:alpha val="4392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1214" y="7494593"/>
            <a:ext cx="9836755" cy="1703012"/>
            <a:chOff x="0" y="0"/>
            <a:chExt cx="11648816" cy="201672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648756" cy="2016698"/>
            </a:xfrm>
            <a:custGeom>
              <a:avLst/>
              <a:gdLst/>
              <a:ahLst/>
              <a:cxnLst/>
              <a:rect l="l" t="t" r="r" b="b"/>
              <a:pathLst>
                <a:path w="11648756" h="2016698">
                  <a:moveTo>
                    <a:pt x="0" y="107060"/>
                  </a:moveTo>
                  <a:cubicBezTo>
                    <a:pt x="0" y="47982"/>
                    <a:pt x="75182" y="0"/>
                    <a:pt x="167750" y="0"/>
                  </a:cubicBezTo>
                  <a:lnTo>
                    <a:pt x="11481005" y="0"/>
                  </a:lnTo>
                  <a:cubicBezTo>
                    <a:pt x="11573694" y="0"/>
                    <a:pt x="11648756" y="47982"/>
                    <a:pt x="11648756" y="107060"/>
                  </a:cubicBezTo>
                  <a:lnTo>
                    <a:pt x="11648756" y="1909638"/>
                  </a:lnTo>
                  <a:cubicBezTo>
                    <a:pt x="11648756" y="1968793"/>
                    <a:pt x="11573574" y="2016698"/>
                    <a:pt x="11481005" y="2016698"/>
                  </a:cubicBezTo>
                  <a:lnTo>
                    <a:pt x="167750" y="2016698"/>
                  </a:lnTo>
                  <a:cubicBezTo>
                    <a:pt x="75182" y="2016698"/>
                    <a:pt x="0" y="1968793"/>
                    <a:pt x="0" y="1909638"/>
                  </a:cubicBezTo>
                  <a:close/>
                </a:path>
              </a:pathLst>
            </a:custGeom>
            <a:solidFill>
              <a:srgbClr val="000000">
                <a:alpha val="43922"/>
              </a:srgbClr>
            </a:solidFill>
            <a:ln w="19065" cap="sq">
              <a:solidFill>
                <a:srgbClr val="922022">
                  <a:alpha val="4392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01214" y="1906079"/>
            <a:ext cx="9836755" cy="1703012"/>
            <a:chOff x="0" y="0"/>
            <a:chExt cx="11648816" cy="20167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648756" cy="2016698"/>
            </a:xfrm>
            <a:custGeom>
              <a:avLst/>
              <a:gdLst/>
              <a:ahLst/>
              <a:cxnLst/>
              <a:rect l="l" t="t" r="r" b="b"/>
              <a:pathLst>
                <a:path w="11648756" h="2016698">
                  <a:moveTo>
                    <a:pt x="0" y="107060"/>
                  </a:moveTo>
                  <a:cubicBezTo>
                    <a:pt x="0" y="47982"/>
                    <a:pt x="75182" y="0"/>
                    <a:pt x="167750" y="0"/>
                  </a:cubicBezTo>
                  <a:lnTo>
                    <a:pt x="11481005" y="0"/>
                  </a:lnTo>
                  <a:cubicBezTo>
                    <a:pt x="11573694" y="0"/>
                    <a:pt x="11648756" y="47982"/>
                    <a:pt x="11648756" y="107060"/>
                  </a:cubicBezTo>
                  <a:lnTo>
                    <a:pt x="11648756" y="1909638"/>
                  </a:lnTo>
                  <a:cubicBezTo>
                    <a:pt x="11648756" y="1968793"/>
                    <a:pt x="11573574" y="2016698"/>
                    <a:pt x="11481005" y="2016698"/>
                  </a:cubicBezTo>
                  <a:lnTo>
                    <a:pt x="167750" y="2016698"/>
                  </a:lnTo>
                  <a:cubicBezTo>
                    <a:pt x="75182" y="2016698"/>
                    <a:pt x="0" y="1968793"/>
                    <a:pt x="0" y="1909638"/>
                  </a:cubicBezTo>
                  <a:close/>
                </a:path>
              </a:pathLst>
            </a:custGeom>
            <a:solidFill>
              <a:srgbClr val="000000">
                <a:alpha val="43922"/>
              </a:srgbClr>
            </a:solidFill>
            <a:ln w="19065" cap="sq">
              <a:solidFill>
                <a:srgbClr val="922022">
                  <a:alpha val="4392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45640" y="249274"/>
            <a:ext cx="6407051" cy="77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Situación Problemática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5640" y="1398942"/>
            <a:ext cx="2530599" cy="42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Situación actual: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5640" y="4152015"/>
            <a:ext cx="1357387" cy="42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Impacto: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3776" y="5015930"/>
            <a:ext cx="9144470" cy="821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5"/>
              </a:lnSpc>
            </a:pPr>
            <a:r>
              <a:rPr lang="en-US" sz="222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Una gestión poco eficiente puede aumentar los tiempos de respuesta y generar una utilización inadecuada de los recursos.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5640" y="6930027"/>
            <a:ext cx="1982093" cy="42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699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Oportunidad: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13776" y="7795671"/>
            <a:ext cx="9411631" cy="821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5"/>
              </a:lnSpc>
            </a:pPr>
            <a:r>
              <a:rPr lang="en-US" sz="222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Utilizar datos históricos, algoritmos y predicción para apoyar decisiones más eficientes.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3776" y="2143250"/>
            <a:ext cx="9411631" cy="1244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5"/>
              </a:lnSpc>
            </a:pPr>
            <a:r>
              <a:rPr lang="en-US" sz="222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La distribución de recursos de emergencia puede verse afectada por la disponibilidad limitada, ubicación geográfica, prioridad y tiempos de respuesta.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493114" y="3178404"/>
            <a:ext cx="2204589" cy="3620400"/>
            <a:chOff x="0" y="0"/>
            <a:chExt cx="2610704" cy="42873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10690" cy="4287260"/>
            </a:xfrm>
            <a:custGeom>
              <a:avLst/>
              <a:gdLst/>
              <a:ahLst/>
              <a:cxnLst/>
              <a:rect l="l" t="t" r="r" b="b"/>
              <a:pathLst>
                <a:path w="2610690" h="4287260">
                  <a:moveTo>
                    <a:pt x="0" y="227597"/>
                  </a:moveTo>
                  <a:cubicBezTo>
                    <a:pt x="0" y="102004"/>
                    <a:pt x="16850" y="0"/>
                    <a:pt x="37596" y="0"/>
                  </a:cubicBezTo>
                  <a:lnTo>
                    <a:pt x="2573095" y="0"/>
                  </a:lnTo>
                  <a:cubicBezTo>
                    <a:pt x="2593868" y="0"/>
                    <a:pt x="2610690" y="102004"/>
                    <a:pt x="2610690" y="227597"/>
                  </a:cubicBezTo>
                  <a:lnTo>
                    <a:pt x="2610690" y="4059663"/>
                  </a:lnTo>
                  <a:cubicBezTo>
                    <a:pt x="2610690" y="4185419"/>
                    <a:pt x="2593841" y="4287260"/>
                    <a:pt x="2573095" y="4287260"/>
                  </a:cubicBezTo>
                  <a:lnTo>
                    <a:pt x="37596" y="4287260"/>
                  </a:lnTo>
                  <a:cubicBezTo>
                    <a:pt x="16850" y="4287260"/>
                    <a:pt x="0" y="4185419"/>
                    <a:pt x="0" y="4059663"/>
                  </a:cubicBezTo>
                  <a:close/>
                </a:path>
              </a:pathLst>
            </a:custGeom>
            <a:solidFill>
              <a:srgbClr val="000000">
                <a:alpha val="43922"/>
              </a:srgbClr>
            </a:solidFill>
            <a:ln w="19065" cap="sq">
              <a:solidFill>
                <a:srgbClr val="922022">
                  <a:alpha val="4392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13288" y="3178404"/>
            <a:ext cx="2204589" cy="3620400"/>
            <a:chOff x="0" y="0"/>
            <a:chExt cx="2610704" cy="42873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10690" cy="4287260"/>
            </a:xfrm>
            <a:custGeom>
              <a:avLst/>
              <a:gdLst/>
              <a:ahLst/>
              <a:cxnLst/>
              <a:rect l="l" t="t" r="r" b="b"/>
              <a:pathLst>
                <a:path w="2610690" h="4287260">
                  <a:moveTo>
                    <a:pt x="0" y="227597"/>
                  </a:moveTo>
                  <a:cubicBezTo>
                    <a:pt x="0" y="102004"/>
                    <a:pt x="16850" y="0"/>
                    <a:pt x="37596" y="0"/>
                  </a:cubicBezTo>
                  <a:lnTo>
                    <a:pt x="2573095" y="0"/>
                  </a:lnTo>
                  <a:cubicBezTo>
                    <a:pt x="2593868" y="0"/>
                    <a:pt x="2610690" y="102004"/>
                    <a:pt x="2610690" y="227597"/>
                  </a:cubicBezTo>
                  <a:lnTo>
                    <a:pt x="2610690" y="4059663"/>
                  </a:lnTo>
                  <a:cubicBezTo>
                    <a:pt x="2610690" y="4185419"/>
                    <a:pt x="2593841" y="4287260"/>
                    <a:pt x="2573095" y="4287260"/>
                  </a:cubicBezTo>
                  <a:lnTo>
                    <a:pt x="37596" y="4287260"/>
                  </a:lnTo>
                  <a:cubicBezTo>
                    <a:pt x="16850" y="4287260"/>
                    <a:pt x="0" y="4185419"/>
                    <a:pt x="0" y="4059663"/>
                  </a:cubicBezTo>
                  <a:close/>
                </a:path>
              </a:pathLst>
            </a:custGeom>
            <a:solidFill>
              <a:srgbClr val="000000">
                <a:alpha val="43922"/>
              </a:srgbClr>
            </a:solidFill>
            <a:ln w="19065" cap="sq">
              <a:solidFill>
                <a:srgbClr val="922022">
                  <a:alpha val="4392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52407" y="3178404"/>
            <a:ext cx="2204589" cy="3620400"/>
            <a:chOff x="0" y="0"/>
            <a:chExt cx="2610704" cy="42873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10690" cy="4287260"/>
            </a:xfrm>
            <a:custGeom>
              <a:avLst/>
              <a:gdLst/>
              <a:ahLst/>
              <a:cxnLst/>
              <a:rect l="l" t="t" r="r" b="b"/>
              <a:pathLst>
                <a:path w="2610690" h="4287260">
                  <a:moveTo>
                    <a:pt x="0" y="227597"/>
                  </a:moveTo>
                  <a:cubicBezTo>
                    <a:pt x="0" y="102004"/>
                    <a:pt x="16850" y="0"/>
                    <a:pt x="37596" y="0"/>
                  </a:cubicBezTo>
                  <a:lnTo>
                    <a:pt x="2573095" y="0"/>
                  </a:lnTo>
                  <a:cubicBezTo>
                    <a:pt x="2593868" y="0"/>
                    <a:pt x="2610690" y="102004"/>
                    <a:pt x="2610690" y="227597"/>
                  </a:cubicBezTo>
                  <a:lnTo>
                    <a:pt x="2610690" y="4059663"/>
                  </a:lnTo>
                  <a:cubicBezTo>
                    <a:pt x="2610690" y="4185419"/>
                    <a:pt x="2593841" y="4287260"/>
                    <a:pt x="2573095" y="4287260"/>
                  </a:cubicBezTo>
                  <a:lnTo>
                    <a:pt x="37596" y="4287260"/>
                  </a:lnTo>
                  <a:cubicBezTo>
                    <a:pt x="16850" y="4287260"/>
                    <a:pt x="0" y="4185419"/>
                    <a:pt x="0" y="4059663"/>
                  </a:cubicBezTo>
                  <a:close/>
                </a:path>
              </a:pathLst>
            </a:custGeom>
            <a:solidFill>
              <a:srgbClr val="000000">
                <a:alpha val="43922"/>
              </a:srgbClr>
            </a:solidFill>
            <a:ln w="19065" cap="sq">
              <a:solidFill>
                <a:srgbClr val="922022">
                  <a:alpha val="4392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533462" y="3178404"/>
            <a:ext cx="2204589" cy="3620400"/>
            <a:chOff x="0" y="0"/>
            <a:chExt cx="2610704" cy="42873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610690" cy="4287260"/>
            </a:xfrm>
            <a:custGeom>
              <a:avLst/>
              <a:gdLst/>
              <a:ahLst/>
              <a:cxnLst/>
              <a:rect l="l" t="t" r="r" b="b"/>
              <a:pathLst>
                <a:path w="2610690" h="4287260">
                  <a:moveTo>
                    <a:pt x="0" y="227597"/>
                  </a:moveTo>
                  <a:cubicBezTo>
                    <a:pt x="0" y="102004"/>
                    <a:pt x="16850" y="0"/>
                    <a:pt x="37596" y="0"/>
                  </a:cubicBezTo>
                  <a:lnTo>
                    <a:pt x="2573095" y="0"/>
                  </a:lnTo>
                  <a:cubicBezTo>
                    <a:pt x="2593868" y="0"/>
                    <a:pt x="2610690" y="102004"/>
                    <a:pt x="2610690" y="227597"/>
                  </a:cubicBezTo>
                  <a:lnTo>
                    <a:pt x="2610690" y="4059663"/>
                  </a:lnTo>
                  <a:cubicBezTo>
                    <a:pt x="2610690" y="4185419"/>
                    <a:pt x="2593841" y="4287260"/>
                    <a:pt x="2573095" y="4287260"/>
                  </a:cubicBezTo>
                  <a:lnTo>
                    <a:pt x="37596" y="4287260"/>
                  </a:lnTo>
                  <a:cubicBezTo>
                    <a:pt x="16850" y="4287260"/>
                    <a:pt x="0" y="4185419"/>
                    <a:pt x="0" y="4059663"/>
                  </a:cubicBezTo>
                  <a:close/>
                </a:path>
              </a:pathLst>
            </a:custGeom>
            <a:solidFill>
              <a:srgbClr val="000000">
                <a:alpha val="43922"/>
              </a:srgbClr>
            </a:solidFill>
            <a:ln w="19065" cap="sq">
              <a:solidFill>
                <a:srgbClr val="922022">
                  <a:alpha val="4392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590297" y="3178404"/>
            <a:ext cx="2204589" cy="3620400"/>
            <a:chOff x="0" y="0"/>
            <a:chExt cx="2610704" cy="42873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10690" cy="4287260"/>
            </a:xfrm>
            <a:custGeom>
              <a:avLst/>
              <a:gdLst/>
              <a:ahLst/>
              <a:cxnLst/>
              <a:rect l="l" t="t" r="r" b="b"/>
              <a:pathLst>
                <a:path w="2610690" h="4287260">
                  <a:moveTo>
                    <a:pt x="0" y="227597"/>
                  </a:moveTo>
                  <a:cubicBezTo>
                    <a:pt x="0" y="102004"/>
                    <a:pt x="16850" y="0"/>
                    <a:pt x="37596" y="0"/>
                  </a:cubicBezTo>
                  <a:lnTo>
                    <a:pt x="2573095" y="0"/>
                  </a:lnTo>
                  <a:cubicBezTo>
                    <a:pt x="2593868" y="0"/>
                    <a:pt x="2610690" y="102004"/>
                    <a:pt x="2610690" y="227597"/>
                  </a:cubicBezTo>
                  <a:lnTo>
                    <a:pt x="2610690" y="4059663"/>
                  </a:lnTo>
                  <a:cubicBezTo>
                    <a:pt x="2610690" y="4185419"/>
                    <a:pt x="2593841" y="4287260"/>
                    <a:pt x="2573095" y="4287260"/>
                  </a:cubicBezTo>
                  <a:lnTo>
                    <a:pt x="37596" y="4287260"/>
                  </a:lnTo>
                  <a:cubicBezTo>
                    <a:pt x="16850" y="4287260"/>
                    <a:pt x="0" y="4185419"/>
                    <a:pt x="0" y="4059663"/>
                  </a:cubicBezTo>
                  <a:close/>
                </a:path>
              </a:pathLst>
            </a:custGeom>
            <a:solidFill>
              <a:srgbClr val="000000">
                <a:alpha val="43922"/>
              </a:srgbClr>
            </a:solidFill>
            <a:ln w="19065" cap="sq">
              <a:solidFill>
                <a:srgbClr val="922022">
                  <a:alpha val="4392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71352" y="3178404"/>
            <a:ext cx="2204589" cy="3620400"/>
            <a:chOff x="0" y="0"/>
            <a:chExt cx="2610704" cy="42873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610690" cy="4287260"/>
            </a:xfrm>
            <a:custGeom>
              <a:avLst/>
              <a:gdLst/>
              <a:ahLst/>
              <a:cxnLst/>
              <a:rect l="l" t="t" r="r" b="b"/>
              <a:pathLst>
                <a:path w="2610690" h="4287260">
                  <a:moveTo>
                    <a:pt x="0" y="227597"/>
                  </a:moveTo>
                  <a:cubicBezTo>
                    <a:pt x="0" y="102004"/>
                    <a:pt x="16850" y="0"/>
                    <a:pt x="37596" y="0"/>
                  </a:cubicBezTo>
                  <a:lnTo>
                    <a:pt x="2573095" y="0"/>
                  </a:lnTo>
                  <a:cubicBezTo>
                    <a:pt x="2593868" y="0"/>
                    <a:pt x="2610690" y="102004"/>
                    <a:pt x="2610690" y="227597"/>
                  </a:cubicBezTo>
                  <a:lnTo>
                    <a:pt x="2610690" y="4059663"/>
                  </a:lnTo>
                  <a:cubicBezTo>
                    <a:pt x="2610690" y="4185419"/>
                    <a:pt x="2593841" y="4287260"/>
                    <a:pt x="2573095" y="4287260"/>
                  </a:cubicBezTo>
                  <a:lnTo>
                    <a:pt x="37596" y="4287260"/>
                  </a:lnTo>
                  <a:cubicBezTo>
                    <a:pt x="16850" y="4287260"/>
                    <a:pt x="0" y="4185419"/>
                    <a:pt x="0" y="4059663"/>
                  </a:cubicBezTo>
                  <a:close/>
                </a:path>
              </a:pathLst>
            </a:custGeom>
            <a:solidFill>
              <a:srgbClr val="000000">
                <a:alpha val="43922"/>
              </a:srgbClr>
            </a:solidFill>
            <a:ln w="19065" cap="sq">
              <a:solidFill>
                <a:srgbClr val="922022">
                  <a:alpha val="4392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06061" y="3370727"/>
            <a:ext cx="978695" cy="978695"/>
          </a:xfrm>
          <a:custGeom>
            <a:avLst/>
            <a:gdLst/>
            <a:ahLst/>
            <a:cxnLst/>
            <a:rect l="l" t="t" r="r" b="b"/>
            <a:pathLst>
              <a:path w="978695" h="978695">
                <a:moveTo>
                  <a:pt x="0" y="0"/>
                </a:moveTo>
                <a:lnTo>
                  <a:pt x="978695" y="0"/>
                </a:lnTo>
                <a:lnTo>
                  <a:pt x="978695" y="978694"/>
                </a:lnTo>
                <a:lnTo>
                  <a:pt x="0" y="978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4046574" y="3370727"/>
            <a:ext cx="1138017" cy="978695"/>
          </a:xfrm>
          <a:custGeom>
            <a:avLst/>
            <a:gdLst/>
            <a:ahLst/>
            <a:cxnLst/>
            <a:rect l="l" t="t" r="r" b="b"/>
            <a:pathLst>
              <a:path w="1138017" h="978695">
                <a:moveTo>
                  <a:pt x="0" y="0"/>
                </a:moveTo>
                <a:lnTo>
                  <a:pt x="1138017" y="0"/>
                </a:lnTo>
                <a:lnTo>
                  <a:pt x="1138017" y="978694"/>
                </a:lnTo>
                <a:lnTo>
                  <a:pt x="0" y="978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7133861" y="3370727"/>
            <a:ext cx="1003790" cy="978695"/>
          </a:xfrm>
          <a:custGeom>
            <a:avLst/>
            <a:gdLst/>
            <a:ahLst/>
            <a:cxnLst/>
            <a:rect l="l" t="t" r="r" b="b"/>
            <a:pathLst>
              <a:path w="1003790" h="978695">
                <a:moveTo>
                  <a:pt x="0" y="0"/>
                </a:moveTo>
                <a:lnTo>
                  <a:pt x="1003790" y="0"/>
                </a:lnTo>
                <a:lnTo>
                  <a:pt x="1003790" y="978694"/>
                </a:lnTo>
                <a:lnTo>
                  <a:pt x="0" y="978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10119895" y="3370727"/>
            <a:ext cx="1069612" cy="978695"/>
          </a:xfrm>
          <a:custGeom>
            <a:avLst/>
            <a:gdLst/>
            <a:ahLst/>
            <a:cxnLst/>
            <a:rect l="l" t="t" r="r" b="b"/>
            <a:pathLst>
              <a:path w="1069612" h="978695">
                <a:moveTo>
                  <a:pt x="0" y="0"/>
                </a:moveTo>
                <a:lnTo>
                  <a:pt x="1069612" y="0"/>
                </a:lnTo>
                <a:lnTo>
                  <a:pt x="1069612" y="978694"/>
                </a:lnTo>
                <a:lnTo>
                  <a:pt x="0" y="978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Freeform 19"/>
          <p:cNvSpPr/>
          <p:nvPr/>
        </p:nvSpPr>
        <p:spPr>
          <a:xfrm>
            <a:off x="13131940" y="3370727"/>
            <a:ext cx="1058048" cy="978695"/>
          </a:xfrm>
          <a:custGeom>
            <a:avLst/>
            <a:gdLst/>
            <a:ahLst/>
            <a:cxnLst/>
            <a:rect l="l" t="t" r="r" b="b"/>
            <a:pathLst>
              <a:path w="1058048" h="978695">
                <a:moveTo>
                  <a:pt x="0" y="0"/>
                </a:moveTo>
                <a:lnTo>
                  <a:pt x="1058048" y="0"/>
                </a:lnTo>
                <a:lnTo>
                  <a:pt x="1058048" y="978694"/>
                </a:lnTo>
                <a:lnTo>
                  <a:pt x="0" y="978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0" name="Freeform 20"/>
          <p:cNvSpPr/>
          <p:nvPr/>
        </p:nvSpPr>
        <p:spPr>
          <a:xfrm>
            <a:off x="16185496" y="3370727"/>
            <a:ext cx="1014192" cy="978695"/>
          </a:xfrm>
          <a:custGeom>
            <a:avLst/>
            <a:gdLst/>
            <a:ahLst/>
            <a:cxnLst/>
            <a:rect l="l" t="t" r="r" b="b"/>
            <a:pathLst>
              <a:path w="1014192" h="978695">
                <a:moveTo>
                  <a:pt x="0" y="0"/>
                </a:moveTo>
                <a:lnTo>
                  <a:pt x="1014191" y="0"/>
                </a:lnTo>
                <a:lnTo>
                  <a:pt x="1014191" y="978694"/>
                </a:lnTo>
                <a:lnTo>
                  <a:pt x="0" y="978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1" name="Group 21"/>
          <p:cNvGrpSpPr/>
          <p:nvPr/>
        </p:nvGrpSpPr>
        <p:grpSpPr>
          <a:xfrm>
            <a:off x="493114" y="7360778"/>
            <a:ext cx="5582825" cy="2501359"/>
            <a:chOff x="0" y="0"/>
            <a:chExt cx="6611255" cy="296214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611221" cy="2962097"/>
            </a:xfrm>
            <a:custGeom>
              <a:avLst/>
              <a:gdLst/>
              <a:ahLst/>
              <a:cxnLst/>
              <a:rect l="l" t="t" r="r" b="b"/>
              <a:pathLst>
                <a:path w="6611221" h="2962097">
                  <a:moveTo>
                    <a:pt x="0" y="157249"/>
                  </a:moveTo>
                  <a:cubicBezTo>
                    <a:pt x="0" y="70475"/>
                    <a:pt x="42669" y="0"/>
                    <a:pt x="95206" y="0"/>
                  </a:cubicBezTo>
                  <a:lnTo>
                    <a:pt x="6516015" y="0"/>
                  </a:lnTo>
                  <a:cubicBezTo>
                    <a:pt x="6568620" y="0"/>
                    <a:pt x="6611221" y="70475"/>
                    <a:pt x="6611221" y="157249"/>
                  </a:cubicBezTo>
                  <a:lnTo>
                    <a:pt x="6611221" y="2804849"/>
                  </a:lnTo>
                  <a:cubicBezTo>
                    <a:pt x="6611221" y="2891735"/>
                    <a:pt x="6568553" y="2962097"/>
                    <a:pt x="6516015" y="2962097"/>
                  </a:cubicBezTo>
                  <a:lnTo>
                    <a:pt x="95206" y="2962097"/>
                  </a:lnTo>
                  <a:cubicBezTo>
                    <a:pt x="42669" y="2962097"/>
                    <a:pt x="0" y="2891735"/>
                    <a:pt x="0" y="2804849"/>
                  </a:cubicBezTo>
                  <a:close/>
                </a:path>
              </a:pathLst>
            </a:custGeom>
            <a:solidFill>
              <a:srgbClr val="000000">
                <a:alpha val="43922"/>
              </a:srgbClr>
            </a:solidFill>
            <a:ln w="19065" cap="sq">
              <a:solidFill>
                <a:srgbClr val="922022">
                  <a:alpha val="4392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3" name="Freeform 23"/>
          <p:cNvSpPr/>
          <p:nvPr/>
        </p:nvSpPr>
        <p:spPr>
          <a:xfrm>
            <a:off x="7627316" y="7494605"/>
            <a:ext cx="3562191" cy="2636021"/>
          </a:xfrm>
          <a:custGeom>
            <a:avLst/>
            <a:gdLst/>
            <a:ahLst/>
            <a:cxnLst/>
            <a:rect l="l" t="t" r="r" b="b"/>
            <a:pathLst>
              <a:path w="3562191" h="2636021">
                <a:moveTo>
                  <a:pt x="0" y="0"/>
                </a:moveTo>
                <a:lnTo>
                  <a:pt x="3562191" y="0"/>
                </a:lnTo>
                <a:lnTo>
                  <a:pt x="3562191" y="2636021"/>
                </a:lnTo>
                <a:lnTo>
                  <a:pt x="0" y="26360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Freeform 24"/>
          <p:cNvSpPr/>
          <p:nvPr/>
        </p:nvSpPr>
        <p:spPr>
          <a:xfrm>
            <a:off x="8625870" y="7856305"/>
            <a:ext cx="1565084" cy="1510306"/>
          </a:xfrm>
          <a:custGeom>
            <a:avLst/>
            <a:gdLst/>
            <a:ahLst/>
            <a:cxnLst/>
            <a:rect l="l" t="t" r="r" b="b"/>
            <a:pathLst>
              <a:path w="1565084" h="1510306">
                <a:moveTo>
                  <a:pt x="0" y="0"/>
                </a:moveTo>
                <a:lnTo>
                  <a:pt x="1565084" y="0"/>
                </a:lnTo>
                <a:lnTo>
                  <a:pt x="1565084" y="1510306"/>
                </a:lnTo>
                <a:lnTo>
                  <a:pt x="0" y="1510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5" name="Freeform 25"/>
          <p:cNvSpPr/>
          <p:nvPr/>
        </p:nvSpPr>
        <p:spPr>
          <a:xfrm rot="-5400000">
            <a:off x="10120611" y="4794465"/>
            <a:ext cx="4087125" cy="388277"/>
          </a:xfrm>
          <a:custGeom>
            <a:avLst/>
            <a:gdLst/>
            <a:ahLst/>
            <a:cxnLst/>
            <a:rect l="l" t="t" r="r" b="b"/>
            <a:pathLst>
              <a:path w="4087125" h="388277">
                <a:moveTo>
                  <a:pt x="0" y="0"/>
                </a:moveTo>
                <a:lnTo>
                  <a:pt x="4087125" y="0"/>
                </a:lnTo>
                <a:lnTo>
                  <a:pt x="4087125" y="388277"/>
                </a:lnTo>
                <a:lnTo>
                  <a:pt x="0" y="3882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6" name="TextBox 26"/>
          <p:cNvSpPr txBox="1"/>
          <p:nvPr/>
        </p:nvSpPr>
        <p:spPr>
          <a:xfrm>
            <a:off x="571146" y="364849"/>
            <a:ext cx="6814468" cy="871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Propuesta de Solución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1146" y="1521332"/>
            <a:ext cx="9137996" cy="1285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4"/>
              </a:lnSpc>
            </a:pPr>
            <a:r>
              <a:rPr lang="en-US" sz="2183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Alerta</a:t>
            </a:r>
            <a:r>
              <a:rPr lang="en-US" sz="2183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360 </a:t>
            </a:r>
            <a:r>
              <a:rPr lang="en-US" sz="2183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integrará</a:t>
            </a:r>
            <a:r>
              <a:rPr lang="en-US" sz="2183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183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información</a:t>
            </a:r>
            <a:r>
              <a:rPr lang="en-US" sz="2183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183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geográfica</a:t>
            </a:r>
            <a:r>
              <a:rPr lang="en-US" sz="2183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lang="en-US" sz="2183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disponibilidad</a:t>
            </a:r>
            <a:r>
              <a:rPr lang="en-US" sz="2183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lang="en-US" sz="2183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prioridad</a:t>
            </a:r>
            <a:r>
              <a:rPr lang="en-US" sz="2183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lang="en-US" sz="2183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capacidades</a:t>
            </a:r>
            <a:r>
              <a:rPr lang="en-US" sz="2183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y </a:t>
            </a:r>
            <a:r>
              <a:rPr lang="en-US" sz="2183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datos</a:t>
            </a:r>
            <a:r>
              <a:rPr lang="en-US" sz="2183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183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históricos</a:t>
            </a:r>
            <a:r>
              <a:rPr lang="en-US" sz="2183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para </a:t>
            </a:r>
            <a:r>
              <a:rPr lang="en-US" sz="2183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recomendar</a:t>
            </a:r>
            <a:r>
              <a:rPr lang="en-US" sz="2183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la </a:t>
            </a:r>
            <a:r>
              <a:rPr lang="en-US" sz="2183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asignación</a:t>
            </a:r>
            <a:r>
              <a:rPr lang="en-US" sz="2183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y </a:t>
            </a:r>
            <a:r>
              <a:rPr lang="en-US" sz="2183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distribución</a:t>
            </a:r>
            <a:r>
              <a:rPr lang="en-US" sz="2183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2183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recursos</a:t>
            </a:r>
            <a:r>
              <a:rPr lang="en-US" sz="2183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6117" y="4654221"/>
            <a:ext cx="1958583" cy="131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sz="1683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Se registra una emergencia con su ubicacion, prioridad y caracteristicas.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9898" y="4654221"/>
            <a:ext cx="1958583" cy="198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sz="1683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El algoritmo multicriterio evalua las alternativas de seleccionar el recurso mas adecuado.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1026" y="4654221"/>
            <a:ext cx="1958583" cy="198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sz="1683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El sistema recomienda el mejor recurso y ruta estimada para atender la emergencia.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681672" y="4654221"/>
            <a:ext cx="1958583" cy="198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sz="1683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Con datos historicos y modelos predictivos, se anticipan periodos y zona de mayor demanda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513288" y="4654221"/>
            <a:ext cx="2204589" cy="198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sz="1683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Se analizan los recursos disponibles considerando ubicacion, disponibilidad, capacidades, etc.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713300" y="4654221"/>
            <a:ext cx="1958583" cy="164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sz="1683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El sistema recomienda donde y cuando proporcionar recursos para estar mejor preparados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7102" y="7569999"/>
            <a:ext cx="1715262" cy="42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0"/>
              </a:lnSpc>
            </a:pPr>
            <a:r>
              <a:rPr lang="en-US" sz="2684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Beneficios: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7102" y="8121515"/>
            <a:ext cx="4787856" cy="131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3395" lvl="1" indent="-181698" algn="l">
              <a:lnSpc>
                <a:spcPts val="2686"/>
              </a:lnSpc>
              <a:buFont typeface="Arial"/>
              <a:buChar char="•"/>
            </a:pPr>
            <a:r>
              <a:rPr lang="en-US" sz="1683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Menores tiempos de respuesta.</a:t>
            </a:r>
          </a:p>
          <a:p>
            <a:pPr marL="363395" lvl="1" indent="-181698" algn="l">
              <a:lnSpc>
                <a:spcPts val="2686"/>
              </a:lnSpc>
              <a:buFont typeface="Arial"/>
              <a:buChar char="•"/>
            </a:pPr>
            <a:r>
              <a:rPr lang="en-US" sz="1683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Mejor utilizacion de recursos.</a:t>
            </a:r>
          </a:p>
          <a:p>
            <a:pPr marL="363395" lvl="1" indent="-181698" algn="l">
              <a:lnSpc>
                <a:spcPts val="2686"/>
              </a:lnSpc>
              <a:buFont typeface="Arial"/>
              <a:buChar char="•"/>
            </a:pPr>
            <a:r>
              <a:rPr lang="en-US" sz="1683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Decisiones basadas en datos.</a:t>
            </a:r>
          </a:p>
          <a:p>
            <a:pPr marL="363395" lvl="1" indent="-181698" algn="l">
              <a:lnSpc>
                <a:spcPts val="2686"/>
              </a:lnSpc>
              <a:buFont typeface="Arial"/>
              <a:buChar char="•"/>
            </a:pPr>
            <a:r>
              <a:rPr lang="en-US" sz="1683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Planificacion preventiva mas eficiente</a:t>
            </a:r>
          </a:p>
        </p:txBody>
      </p:sp>
      <p:sp>
        <p:nvSpPr>
          <p:cNvPr id="36" name="Freeform 36"/>
          <p:cNvSpPr/>
          <p:nvPr/>
        </p:nvSpPr>
        <p:spPr>
          <a:xfrm>
            <a:off x="5773654" y="6872457"/>
            <a:ext cx="1611960" cy="913233"/>
          </a:xfrm>
          <a:custGeom>
            <a:avLst/>
            <a:gdLst/>
            <a:ahLst/>
            <a:cxnLst/>
            <a:rect l="l" t="t" r="r" b="b"/>
            <a:pathLst>
              <a:path w="1611960" h="913233">
                <a:moveTo>
                  <a:pt x="0" y="0"/>
                </a:moveTo>
                <a:quadBezTo>
                  <a:pt x="936732" y="761978"/>
                  <a:pt x="1611960" y="913233"/>
                </a:quadBezTo>
              </a:path>
            </a:pathLst>
          </a:custGeom>
          <a:ln w="38100" cap="flat">
            <a:solidFill>
              <a:srgbClr val="FFFFFF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s-CL"/>
          </a:p>
        </p:txBody>
      </p:sp>
      <p:sp>
        <p:nvSpPr>
          <p:cNvPr id="37" name="Freeform 37"/>
          <p:cNvSpPr/>
          <p:nvPr/>
        </p:nvSpPr>
        <p:spPr>
          <a:xfrm>
            <a:off x="11427063" y="6975878"/>
            <a:ext cx="1144289" cy="834229"/>
          </a:xfrm>
          <a:custGeom>
            <a:avLst/>
            <a:gdLst/>
            <a:ahLst/>
            <a:cxnLst/>
            <a:rect l="l" t="t" r="r" b="b"/>
            <a:pathLst>
              <a:path w="1144289" h="834229">
                <a:moveTo>
                  <a:pt x="0" y="834229"/>
                </a:moveTo>
                <a:quadBezTo>
                  <a:pt x="727803" y="630627"/>
                  <a:pt x="1144289" y="0"/>
                </a:quadBezTo>
              </a:path>
            </a:pathLst>
          </a:custGeom>
          <a:ln w="38100" cap="flat">
            <a:solidFill>
              <a:srgbClr val="FFFFFF"/>
            </a:solidFill>
            <a:prstDash val="solid"/>
            <a:headEnd type="triangle" w="lg" len="med"/>
            <a:tailEnd type="triangle" w="lg" len="me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6863191" cy="10295039"/>
            <a:chOff x="0" y="0"/>
            <a:chExt cx="9150922" cy="137267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640" r="-11836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64654" y="2038404"/>
            <a:ext cx="10381367" cy="2399517"/>
            <a:chOff x="0" y="0"/>
            <a:chExt cx="12293753" cy="28415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93689" cy="2841497"/>
            </a:xfrm>
            <a:custGeom>
              <a:avLst/>
              <a:gdLst/>
              <a:ahLst/>
              <a:cxnLst/>
              <a:rect l="l" t="t" r="r" b="b"/>
              <a:pathLst>
                <a:path w="12293689" h="2841497">
                  <a:moveTo>
                    <a:pt x="0" y="150846"/>
                  </a:moveTo>
                  <a:cubicBezTo>
                    <a:pt x="0" y="67606"/>
                    <a:pt x="79344" y="0"/>
                    <a:pt x="177038" y="0"/>
                  </a:cubicBezTo>
                  <a:lnTo>
                    <a:pt x="12116651" y="0"/>
                  </a:lnTo>
                  <a:cubicBezTo>
                    <a:pt x="12214471" y="0"/>
                    <a:pt x="12293689" y="67606"/>
                    <a:pt x="12293689" y="150846"/>
                  </a:cubicBezTo>
                  <a:lnTo>
                    <a:pt x="12293689" y="2690650"/>
                  </a:lnTo>
                  <a:cubicBezTo>
                    <a:pt x="12293689" y="2773999"/>
                    <a:pt x="12214345" y="2841497"/>
                    <a:pt x="12116651" y="2841497"/>
                  </a:cubicBezTo>
                  <a:lnTo>
                    <a:pt x="177038" y="2841497"/>
                  </a:lnTo>
                  <a:cubicBezTo>
                    <a:pt x="79344" y="2841497"/>
                    <a:pt x="0" y="2773999"/>
                    <a:pt x="0" y="2690650"/>
                  </a:cubicBezTo>
                  <a:close/>
                </a:path>
              </a:pathLst>
            </a:custGeom>
            <a:solidFill>
              <a:srgbClr val="000000">
                <a:alpha val="43922"/>
              </a:srgbClr>
            </a:solidFill>
            <a:ln w="66675" cap="sq">
              <a:solidFill>
                <a:srgbClr val="922022">
                  <a:alpha val="4392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364654" y="4877945"/>
            <a:ext cx="10381367" cy="4902526"/>
            <a:chOff x="0" y="0"/>
            <a:chExt cx="12293753" cy="58056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293689" cy="5805548"/>
            </a:xfrm>
            <a:custGeom>
              <a:avLst/>
              <a:gdLst/>
              <a:ahLst/>
              <a:cxnLst/>
              <a:rect l="l" t="t" r="r" b="b"/>
              <a:pathLst>
                <a:path w="12293689" h="5805548">
                  <a:moveTo>
                    <a:pt x="0" y="308199"/>
                  </a:moveTo>
                  <a:cubicBezTo>
                    <a:pt x="0" y="138128"/>
                    <a:pt x="79344" y="0"/>
                    <a:pt x="177038" y="0"/>
                  </a:cubicBezTo>
                  <a:lnTo>
                    <a:pt x="12116651" y="0"/>
                  </a:lnTo>
                  <a:cubicBezTo>
                    <a:pt x="12214471" y="0"/>
                    <a:pt x="12293689" y="138128"/>
                    <a:pt x="12293689" y="308199"/>
                  </a:cubicBezTo>
                  <a:lnTo>
                    <a:pt x="12293689" y="5497349"/>
                  </a:lnTo>
                  <a:cubicBezTo>
                    <a:pt x="12293689" y="5667640"/>
                    <a:pt x="12214345" y="5805548"/>
                    <a:pt x="12116651" y="5805548"/>
                  </a:cubicBezTo>
                  <a:lnTo>
                    <a:pt x="177038" y="5805548"/>
                  </a:lnTo>
                  <a:cubicBezTo>
                    <a:pt x="79344" y="5805548"/>
                    <a:pt x="0" y="5667640"/>
                    <a:pt x="0" y="5497349"/>
                  </a:cubicBezTo>
                  <a:close/>
                </a:path>
              </a:pathLst>
            </a:custGeom>
            <a:solidFill>
              <a:srgbClr val="000000">
                <a:alpha val="43922"/>
              </a:srgbClr>
            </a:solidFill>
            <a:ln w="66675" cap="sq">
              <a:solidFill>
                <a:srgbClr val="922022">
                  <a:alpha val="43922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364654" y="442910"/>
            <a:ext cx="6833592" cy="871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Objetivos del Proyecto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1018" y="2180306"/>
            <a:ext cx="258246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Objetivo General: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1018" y="2680549"/>
            <a:ext cx="9873489" cy="1466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3"/>
              </a:lnSpc>
            </a:pPr>
            <a:r>
              <a:rPr lang="en-US" sz="2476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Desarrollar una plataforma web de apoyo a la toma de decisiones para la gestión y asignación inteligente de recursos de emergencia, utilizando información operativa y datos históricos.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1018" y="5031284"/>
            <a:ext cx="3355479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>
                <a:solidFill>
                  <a:srgbClr val="E5E0DF"/>
                </a:solidFill>
                <a:latin typeface="Barlow Medium"/>
                <a:ea typeface="Barlow Medium"/>
                <a:cs typeface="Barlow Medium"/>
                <a:sym typeface="Barlow Medium"/>
              </a:rPr>
              <a:t>Objetivos Específicos: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1018" y="5512820"/>
            <a:ext cx="9126782" cy="4038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53"/>
              </a:lnSpc>
            </a:pP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•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Diseñar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la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arquitectura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y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modelo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datos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  <a:p>
            <a:pPr algn="l">
              <a:lnSpc>
                <a:spcPts val="3953"/>
              </a:lnSpc>
            </a:pP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•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Implementar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la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plataforma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gestión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  <a:p>
            <a:pPr algn="l">
              <a:lnSpc>
                <a:spcPts val="3953"/>
              </a:lnSpc>
            </a:pP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•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Incorporar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visualización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geográfica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  <a:p>
            <a:pPr algn="l">
              <a:lnSpc>
                <a:spcPts val="3953"/>
              </a:lnSpc>
            </a:pP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•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Desarrollar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el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algoritmo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asignación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  <a:p>
            <a:pPr algn="l">
              <a:lnSpc>
                <a:spcPts val="3953"/>
              </a:lnSpc>
            </a:pP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•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Implementar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un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modelo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predictivo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demanda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  <a:p>
            <a:pPr algn="l">
              <a:lnSpc>
                <a:spcPts val="3953"/>
              </a:lnSpc>
            </a:pP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•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Generar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recomendaciones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preposicionamiento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  <a:p>
            <a:pPr algn="l">
              <a:lnSpc>
                <a:spcPts val="3953"/>
              </a:lnSpc>
            </a:pP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•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Evaluar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la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solución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mediante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escenarios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simulados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  <a:p>
            <a:pPr algn="l">
              <a:lnSpc>
                <a:spcPts val="3953"/>
              </a:lnSpc>
            </a:pP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•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Realizar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pruebas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funcionales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y de </a:t>
            </a:r>
            <a:r>
              <a:rPr lang="en-US" sz="2476" dirty="0" err="1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integración</a:t>
            </a:r>
            <a:r>
              <a:rPr lang="en-US" sz="2476" dirty="0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65755" y="435617"/>
            <a:ext cx="7016020" cy="798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3"/>
              </a:lnSpc>
            </a:pPr>
            <a:r>
              <a:rPr lang="en-US" sz="512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Alcances y Limitaciones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2863" y="2464079"/>
            <a:ext cx="2106537" cy="396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dirty="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ALCANCES: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20390" y="2464079"/>
            <a:ext cx="2800210" cy="396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dirty="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LIMITACIONES: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55" y="1319863"/>
            <a:ext cx="9736137" cy="77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4"/>
              </a:lnSpc>
            </a:pPr>
            <a:r>
              <a:rPr lang="en-US" sz="1976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El proyecto Alerta 360 contempla un conjunto de funcionalidades orientadas a apoyar la toma de decisiones en la gestión de emergencias, bajo ciertas restricciones y supuestos.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620390" y="3166852"/>
            <a:ext cx="7875574" cy="4937879"/>
            <a:chOff x="0" y="0"/>
            <a:chExt cx="10500766" cy="658383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0500766" cy="6583838"/>
              <a:chOff x="0" y="0"/>
              <a:chExt cx="10679711" cy="669603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0679656" cy="6695932"/>
              </a:xfrm>
              <a:custGeom>
                <a:avLst/>
                <a:gdLst/>
                <a:ahLst/>
                <a:cxnLst/>
                <a:rect l="l" t="t" r="r" b="b"/>
                <a:pathLst>
                  <a:path w="10679656" h="6695932">
                    <a:moveTo>
                      <a:pt x="0" y="355467"/>
                    </a:moveTo>
                    <a:cubicBezTo>
                      <a:pt x="0" y="159312"/>
                      <a:pt x="68927" y="0"/>
                      <a:pt x="153795" y="0"/>
                    </a:cubicBezTo>
                    <a:lnTo>
                      <a:pt x="10525861" y="0"/>
                    </a:lnTo>
                    <a:cubicBezTo>
                      <a:pt x="10610838" y="0"/>
                      <a:pt x="10679656" y="159312"/>
                      <a:pt x="10679656" y="355467"/>
                    </a:cubicBezTo>
                    <a:lnTo>
                      <a:pt x="10679656" y="6340466"/>
                    </a:lnTo>
                    <a:cubicBezTo>
                      <a:pt x="10679656" y="6536875"/>
                      <a:pt x="10610729" y="6695932"/>
                      <a:pt x="10525861" y="6695932"/>
                    </a:cubicBezTo>
                    <a:lnTo>
                      <a:pt x="153795" y="6695932"/>
                    </a:lnTo>
                    <a:cubicBezTo>
                      <a:pt x="68927" y="6695932"/>
                      <a:pt x="0" y="6536875"/>
                      <a:pt x="0" y="6340466"/>
                    </a:cubicBezTo>
                    <a:close/>
                  </a:path>
                </a:pathLst>
              </a:custGeom>
              <a:solidFill>
                <a:srgbClr val="000000">
                  <a:alpha val="43922"/>
                </a:srgbClr>
              </a:solidFill>
              <a:ln w="19065" cap="sq">
                <a:solidFill>
                  <a:srgbClr val="922022">
                    <a:alpha val="43922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13537" y="176043"/>
              <a:ext cx="9673692" cy="6166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48"/>
                </a:lnSpc>
              </a:pPr>
              <a:r>
                <a:rPr lang="en-US" sz="1659" b="1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1. No contempla despacho real de unidades:</a:t>
              </a:r>
            </a:p>
            <a:p>
              <a:pPr algn="l">
                <a:lnSpc>
                  <a:spcPts val="2648"/>
                </a:lnSpc>
              </a:pPr>
              <a:r>
                <a:rPr lang="en-US" sz="1659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El sistema no ejecuta despachos ni comunicaciones operativas reales.</a:t>
              </a:r>
            </a:p>
            <a:p>
              <a:pPr algn="l">
                <a:lnSpc>
                  <a:spcPts val="2648"/>
                </a:lnSpc>
              </a:pPr>
              <a:r>
                <a:rPr lang="en-US" sz="1659" b="1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2. No se conecta con instituciones externas:</a:t>
              </a:r>
            </a:p>
            <a:p>
              <a:pPr algn="l">
                <a:lnSpc>
                  <a:spcPts val="2648"/>
                </a:lnSpc>
              </a:pPr>
              <a:r>
                <a:rPr lang="en-US" sz="1659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No considera integración directa con Bomberos, SAMU u otras instituciones de emergencia.</a:t>
              </a:r>
            </a:p>
            <a:p>
              <a:pPr algn="l">
                <a:lnSpc>
                  <a:spcPts val="2648"/>
                </a:lnSpc>
              </a:pPr>
              <a:r>
                <a:rPr lang="en-US" sz="1659" b="1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3. Utiliza datos históricos y simulados:</a:t>
              </a:r>
            </a:p>
            <a:p>
              <a:pPr algn="l">
                <a:lnSpc>
                  <a:spcPts val="2648"/>
                </a:lnSpc>
              </a:pPr>
              <a:r>
                <a:rPr lang="en-US" sz="1659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La información utilizada proviene de datos históricos y escenarios simulados.</a:t>
              </a:r>
            </a:p>
            <a:p>
              <a:pPr algn="l">
                <a:lnSpc>
                  <a:spcPts val="2648"/>
                </a:lnSpc>
              </a:pPr>
              <a:r>
                <a:rPr lang="en-US" sz="1659" b="1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4. No contempla GPS físicos reales:</a:t>
              </a:r>
            </a:p>
            <a:p>
              <a:pPr algn="l">
                <a:lnSpc>
                  <a:spcPts val="2648"/>
                </a:lnSpc>
              </a:pPr>
              <a:r>
                <a:rPr lang="en-US" sz="1659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No se integra con dispositivos GPS ni telemetría en vehículos reales.</a:t>
              </a:r>
            </a:p>
            <a:p>
              <a:pPr algn="l">
                <a:lnSpc>
                  <a:spcPts val="2648"/>
                </a:lnSpc>
              </a:pPr>
              <a:r>
                <a:rPr lang="en-US" sz="1659" b="1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5. No incluye IA avanzada / Deep Learning:</a:t>
              </a:r>
            </a:p>
            <a:p>
              <a:pPr algn="l">
                <a:lnSpc>
                  <a:spcPts val="2648"/>
                </a:lnSpc>
              </a:pPr>
              <a:r>
                <a:rPr lang="en-US" sz="1659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El modelo predictivo utiliza técnicas tradicionales de machine learning.</a:t>
              </a:r>
            </a:p>
            <a:p>
              <a:pPr algn="l">
                <a:lnSpc>
                  <a:spcPts val="2648"/>
                </a:lnSpc>
              </a:pPr>
              <a:r>
                <a:rPr lang="en-US" sz="1659" b="1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6. No automatiza decisiones críticas:</a:t>
              </a:r>
            </a:p>
            <a:p>
              <a:pPr algn="l">
                <a:lnSpc>
                  <a:spcPts val="2648"/>
                </a:lnSpc>
              </a:pPr>
              <a:r>
                <a:rPr lang="en-US" sz="1659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Todas las recomendaciones requieren validación e intervención humana.</a:t>
              </a:r>
            </a:p>
            <a:p>
              <a:pPr algn="l">
                <a:lnSpc>
                  <a:spcPts val="2648"/>
                </a:lnSpc>
              </a:pPr>
              <a:endParaRPr lang="en-US" sz="1659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2863" y="3166852"/>
            <a:ext cx="8302286" cy="4937879"/>
            <a:chOff x="0" y="0"/>
            <a:chExt cx="11069714" cy="658383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1069714" cy="6583838"/>
              <a:chOff x="0" y="0"/>
              <a:chExt cx="7233854" cy="430241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233817" cy="4302351"/>
              </a:xfrm>
              <a:custGeom>
                <a:avLst/>
                <a:gdLst/>
                <a:ahLst/>
                <a:cxnLst/>
                <a:rect l="l" t="t" r="r" b="b"/>
                <a:pathLst>
                  <a:path w="7233817" h="4302351">
                    <a:moveTo>
                      <a:pt x="0" y="228399"/>
                    </a:moveTo>
                    <a:cubicBezTo>
                      <a:pt x="0" y="102363"/>
                      <a:pt x="46688" y="0"/>
                      <a:pt x="104172" y="0"/>
                    </a:cubicBezTo>
                    <a:lnTo>
                      <a:pt x="7129644" y="0"/>
                    </a:lnTo>
                    <a:cubicBezTo>
                      <a:pt x="7187203" y="0"/>
                      <a:pt x="7233817" y="102363"/>
                      <a:pt x="7233817" y="228399"/>
                    </a:cubicBezTo>
                    <a:lnTo>
                      <a:pt x="7233817" y="4073952"/>
                    </a:lnTo>
                    <a:cubicBezTo>
                      <a:pt x="7233817" y="4200151"/>
                      <a:pt x="7187129" y="4302351"/>
                      <a:pt x="7129644" y="4302351"/>
                    </a:cubicBezTo>
                    <a:lnTo>
                      <a:pt x="104172" y="4302351"/>
                    </a:lnTo>
                    <a:cubicBezTo>
                      <a:pt x="46688" y="4302351"/>
                      <a:pt x="0" y="4200151"/>
                      <a:pt x="0" y="4073952"/>
                    </a:cubicBezTo>
                    <a:close/>
                  </a:path>
                </a:pathLst>
              </a:custGeom>
              <a:solidFill>
                <a:srgbClr val="000000">
                  <a:alpha val="43922"/>
                </a:srgbClr>
              </a:solidFill>
              <a:ln w="19065" cap="sq">
                <a:solidFill>
                  <a:srgbClr val="00BF63">
                    <a:alpha val="43922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272575" y="176003"/>
              <a:ext cx="10524563" cy="6165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47"/>
                </a:lnSpc>
              </a:pPr>
              <a:r>
                <a:rPr lang="en-US" sz="1658" b="1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1. Gestión de emergencias y recursos:</a:t>
              </a:r>
            </a:p>
            <a:p>
              <a:pPr algn="l">
                <a:lnSpc>
                  <a:spcPts val="2647"/>
                </a:lnSpc>
              </a:pPr>
              <a:r>
                <a:rPr lang="en-US" sz="1658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Registro, seguimiento y control de emergencias y recursos disponibles.</a:t>
              </a:r>
            </a:p>
            <a:p>
              <a:pPr algn="l">
                <a:lnSpc>
                  <a:spcPts val="2647"/>
                </a:lnSpc>
              </a:pPr>
              <a:r>
                <a:rPr lang="en-US" sz="1658" b="1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2. Visualización geográfica en mapas:</a:t>
              </a:r>
            </a:p>
            <a:p>
              <a:pPr algn="l">
                <a:lnSpc>
                  <a:spcPts val="2647"/>
                </a:lnSpc>
              </a:pPr>
              <a:r>
                <a:rPr lang="en-US" sz="1658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Representación de emergencias, recursos y rutas en un mapa interactivo.</a:t>
              </a:r>
            </a:p>
            <a:p>
              <a:pPr algn="l">
                <a:lnSpc>
                  <a:spcPts val="2647"/>
                </a:lnSpc>
              </a:pPr>
              <a:r>
                <a:rPr lang="en-US" sz="1658" b="1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3. Asignación inteligente de recursos:</a:t>
              </a:r>
            </a:p>
            <a:p>
              <a:pPr algn="l">
                <a:lnSpc>
                  <a:spcPts val="2647"/>
                </a:lnSpc>
              </a:pPr>
              <a:r>
                <a:rPr lang="en-US" sz="1658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Algoritmo multicriterio para recomendar el recurso más adecuado según la emergencia.</a:t>
              </a:r>
            </a:p>
            <a:p>
              <a:pPr algn="l">
                <a:lnSpc>
                  <a:spcPts val="2647"/>
                </a:lnSpc>
              </a:pPr>
              <a:r>
                <a:rPr lang="en-US" sz="1658" b="1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4. Análisis histórico y predicción de demanda:</a:t>
              </a:r>
            </a:p>
            <a:p>
              <a:pPr algn="l">
                <a:lnSpc>
                  <a:spcPts val="2647"/>
                </a:lnSpc>
              </a:pPr>
              <a:r>
                <a:rPr lang="en-US" sz="1658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Uso de datos históricos y modelos predictivos para anticipar zonas y periodos de alta demanda.</a:t>
              </a:r>
            </a:p>
            <a:p>
              <a:pPr algn="l">
                <a:lnSpc>
                  <a:spcPts val="2647"/>
                </a:lnSpc>
              </a:pPr>
              <a:r>
                <a:rPr lang="en-US" sz="1658" b="1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5. Recomendaciones de preposicionamiento:</a:t>
              </a:r>
            </a:p>
            <a:p>
              <a:pPr algn="l">
                <a:lnSpc>
                  <a:spcPts val="2647"/>
                </a:lnSpc>
              </a:pPr>
              <a:r>
                <a:rPr lang="en-US" sz="1658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Sugerencias de dónde y cuándo posicionar recursos para mejorar la cobertura.</a:t>
              </a:r>
            </a:p>
            <a:p>
              <a:pPr algn="l">
                <a:lnSpc>
                  <a:spcPts val="2647"/>
                </a:lnSpc>
              </a:pPr>
              <a:r>
                <a:rPr lang="en-US" sz="1658" b="1">
                  <a:solidFill>
                    <a:srgbClr val="FFFFF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6. Dashboard y monitoreo en tiempo real:</a:t>
              </a:r>
            </a:p>
            <a:p>
              <a:pPr algn="l">
                <a:lnSpc>
                  <a:spcPts val="2647"/>
                </a:lnSpc>
              </a:pPr>
              <a:r>
                <a:rPr lang="en-US" sz="1658">
                  <a:solidFill>
                    <a:srgbClr val="FFFFFF"/>
                  </a:solidFill>
                  <a:latin typeface="Barlow"/>
                  <a:ea typeface="Barlow"/>
                  <a:cs typeface="Barlow"/>
                  <a:sym typeface="Barlow"/>
                </a:rPr>
                <a:t>Visualización y seguimiento del estado de emergencias y recursos en tiempo real.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8886174"/>
            <a:ext cx="8268457" cy="677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723" b="1">
                <a:solidFill>
                  <a:srgbClr val="E5E0DF"/>
                </a:solidFill>
                <a:latin typeface="Barlow Bold"/>
                <a:ea typeface="Barlow Bold"/>
                <a:cs typeface="Barlow Bold"/>
                <a:sym typeface="Barlow Bold"/>
              </a:rPr>
              <a:t>Nota:</a:t>
            </a:r>
            <a:r>
              <a:rPr lang="en-US" sz="1723">
                <a:solidFill>
                  <a:srgbClr val="E5E0DF"/>
                </a:solidFill>
                <a:latin typeface="Barlow"/>
                <a:ea typeface="Barlow"/>
                <a:cs typeface="Barlow"/>
                <a:sym typeface="Barlow"/>
              </a:rPr>
              <a:t> El objetivo del sistema es apoyar la toma de decisiones, entregando información y recomendaciones para optimizar la gestión de recursos en escenarios de emergencia.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6628307" y="9846183"/>
            <a:ext cx="1609020" cy="384353"/>
            <a:chOff x="0" y="0"/>
            <a:chExt cx="2145360" cy="512470"/>
          </a:xfrm>
        </p:grpSpPr>
        <p:sp>
          <p:nvSpPr>
            <p:cNvPr id="4" name="Freeform 4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145411" cy="512445"/>
            </a:xfrm>
            <a:custGeom>
              <a:avLst/>
              <a:gdLst/>
              <a:ahLst/>
              <a:cxnLst/>
              <a:rect l="l" t="t" r="r" b="b"/>
              <a:pathLst>
                <a:path w="2145411" h="512445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-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0"/>
            <a:ext cx="9157840" cy="10295039"/>
            <a:chOff x="0" y="0"/>
            <a:chExt cx="12210453" cy="13726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10368" cy="13726668"/>
            </a:xfrm>
            <a:custGeom>
              <a:avLst/>
              <a:gdLst/>
              <a:ahLst/>
              <a:cxnLst/>
              <a:rect l="l" t="t" r="r" b="b"/>
              <a:pathLst>
                <a:path w="12210368" h="13726668">
                  <a:moveTo>
                    <a:pt x="0" y="0"/>
                  </a:moveTo>
                  <a:lnTo>
                    <a:pt x="12210368" y="0"/>
                  </a:lnTo>
                  <a:lnTo>
                    <a:pt x="1221036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851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2157" y="3001385"/>
            <a:ext cx="1303390" cy="1564231"/>
            <a:chOff x="0" y="0"/>
            <a:chExt cx="1784502" cy="2141626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784477" cy="2141601"/>
            </a:xfrm>
            <a:custGeom>
              <a:avLst/>
              <a:gdLst/>
              <a:ahLst/>
              <a:cxnLst/>
              <a:rect l="l" t="t" r="r" b="b"/>
              <a:pathLst>
                <a:path w="1784477" h="2141601">
                  <a:moveTo>
                    <a:pt x="0" y="0"/>
                  </a:moveTo>
                  <a:lnTo>
                    <a:pt x="1784477" y="0"/>
                  </a:lnTo>
                  <a:lnTo>
                    <a:pt x="1784477" y="2141601"/>
                  </a:lnTo>
                  <a:lnTo>
                    <a:pt x="0" y="2141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4" r="-66" b="-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02157" y="4565607"/>
            <a:ext cx="1303390" cy="1564231"/>
            <a:chOff x="0" y="0"/>
            <a:chExt cx="1784502" cy="2141626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784477" cy="2141601"/>
            </a:xfrm>
            <a:custGeom>
              <a:avLst/>
              <a:gdLst/>
              <a:ahLst/>
              <a:cxnLst/>
              <a:rect l="l" t="t" r="r" b="b"/>
              <a:pathLst>
                <a:path w="1784477" h="2141601">
                  <a:moveTo>
                    <a:pt x="0" y="0"/>
                  </a:moveTo>
                  <a:lnTo>
                    <a:pt x="1784477" y="0"/>
                  </a:lnTo>
                  <a:lnTo>
                    <a:pt x="1784477" y="2141601"/>
                  </a:lnTo>
                  <a:lnTo>
                    <a:pt x="0" y="2141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4" r="-66" b="-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02157" y="6129838"/>
            <a:ext cx="1303390" cy="1564231"/>
            <a:chOff x="0" y="0"/>
            <a:chExt cx="1784502" cy="2141626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784477" cy="2141601"/>
            </a:xfrm>
            <a:custGeom>
              <a:avLst/>
              <a:gdLst/>
              <a:ahLst/>
              <a:cxnLst/>
              <a:rect l="l" t="t" r="r" b="b"/>
              <a:pathLst>
                <a:path w="1784477" h="2141601">
                  <a:moveTo>
                    <a:pt x="0" y="0"/>
                  </a:moveTo>
                  <a:lnTo>
                    <a:pt x="1784477" y="0"/>
                  </a:lnTo>
                  <a:lnTo>
                    <a:pt x="1784477" y="2141601"/>
                  </a:lnTo>
                  <a:lnTo>
                    <a:pt x="0" y="2141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4" r="-66" b="-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2157" y="7694069"/>
            <a:ext cx="1303390" cy="1564231"/>
            <a:chOff x="0" y="0"/>
            <a:chExt cx="1784502" cy="2141626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784477" cy="2141601"/>
            </a:xfrm>
            <a:custGeom>
              <a:avLst/>
              <a:gdLst/>
              <a:ahLst/>
              <a:cxnLst/>
              <a:rect l="l" t="t" r="r" b="b"/>
              <a:pathLst>
                <a:path w="1784477" h="2141601">
                  <a:moveTo>
                    <a:pt x="0" y="0"/>
                  </a:moveTo>
                  <a:lnTo>
                    <a:pt x="1784477" y="0"/>
                  </a:lnTo>
                  <a:lnTo>
                    <a:pt x="1784477" y="2141601"/>
                  </a:lnTo>
                  <a:lnTo>
                    <a:pt x="0" y="2141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64" r="-66" b="-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02157" y="936215"/>
            <a:ext cx="6014591" cy="733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7"/>
              </a:lnSpc>
            </a:pPr>
            <a:r>
              <a:rPr lang="en-US" sz="4653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Metodología de Trabajo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2157" y="1936547"/>
            <a:ext cx="3596878" cy="43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501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Metodología Ágil — Scrum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721800" y="3226280"/>
            <a:ext cx="1741614" cy="374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2378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Planificación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21800" y="3707661"/>
            <a:ext cx="4128694" cy="362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148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Requisitos</a:t>
            </a:r>
            <a:r>
              <a:rPr lang="en-US" sz="214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y Product Backlog.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721800" y="4868154"/>
            <a:ext cx="1377865" cy="374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2378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Desarrollo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21800" y="5349544"/>
            <a:ext cx="5849500" cy="362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148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Implementación</a:t>
            </a:r>
            <a:r>
              <a:rPr lang="en-US" sz="214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incremental </a:t>
            </a:r>
            <a:r>
              <a:rPr lang="en-US" sz="2148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mediante</a:t>
            </a:r>
            <a:r>
              <a:rPr lang="en-US" sz="214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Sprints.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21800" y="6510038"/>
            <a:ext cx="1144190" cy="374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2378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Revisión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21800" y="6991418"/>
            <a:ext cx="4961739" cy="362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148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Seguimiento</a:t>
            </a:r>
            <a:r>
              <a:rPr lang="en-US" sz="214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y </a:t>
            </a:r>
            <a:r>
              <a:rPr lang="en-US" sz="2148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validación</a:t>
            </a:r>
            <a:r>
              <a:rPr lang="en-US" sz="214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2148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avances</a:t>
            </a:r>
            <a:r>
              <a:rPr lang="en-US" sz="214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21800" y="7981351"/>
            <a:ext cx="1907743" cy="374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2378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Retrospectiva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721800" y="8460664"/>
            <a:ext cx="6193600" cy="362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148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Identificación</a:t>
            </a:r>
            <a:r>
              <a:rPr lang="en-US" sz="214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de </a:t>
            </a:r>
            <a:r>
              <a:rPr lang="en-US" sz="2148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mejoras</a:t>
            </a:r>
            <a:r>
              <a:rPr lang="en-US" sz="214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para el </a:t>
            </a:r>
            <a:r>
              <a:rPr lang="en-US" sz="2148" dirty="0" err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siguiente</a:t>
            </a:r>
            <a:r>
              <a:rPr lang="en-US" sz="2148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Sprint.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3396270" y="1406403"/>
            <a:ext cx="11495460" cy="8577757"/>
            <a:chOff x="0" y="0"/>
            <a:chExt cx="15327280" cy="11437010"/>
          </a:xfrm>
        </p:grpSpPr>
        <p:sp>
          <p:nvSpPr>
            <p:cNvPr id="4" name="Freeform 4"/>
            <p:cNvSpPr/>
            <p:nvPr/>
          </p:nvSpPr>
          <p:spPr>
            <a:xfrm>
              <a:off x="4335" y="0"/>
              <a:ext cx="15322944" cy="4118651"/>
            </a:xfrm>
            <a:custGeom>
              <a:avLst/>
              <a:gdLst/>
              <a:ahLst/>
              <a:cxnLst/>
              <a:rect l="l" t="t" r="r" b="b"/>
              <a:pathLst>
                <a:path w="15322944" h="4118651">
                  <a:moveTo>
                    <a:pt x="0" y="0"/>
                  </a:moveTo>
                  <a:lnTo>
                    <a:pt x="15322945" y="0"/>
                  </a:lnTo>
                  <a:lnTo>
                    <a:pt x="15322945" y="4118651"/>
                  </a:lnTo>
                  <a:lnTo>
                    <a:pt x="0" y="4118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4118651"/>
              <a:ext cx="15327280" cy="4758087"/>
            </a:xfrm>
            <a:custGeom>
              <a:avLst/>
              <a:gdLst/>
              <a:ahLst/>
              <a:cxnLst/>
              <a:rect l="l" t="t" r="r" b="b"/>
              <a:pathLst>
                <a:path w="15327280" h="4758087">
                  <a:moveTo>
                    <a:pt x="0" y="0"/>
                  </a:moveTo>
                  <a:lnTo>
                    <a:pt x="15327280" y="0"/>
                  </a:lnTo>
                  <a:lnTo>
                    <a:pt x="15327280" y="4758087"/>
                  </a:lnTo>
                  <a:lnTo>
                    <a:pt x="0" y="475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/>
            <p:cNvSpPr/>
            <p:nvPr/>
          </p:nvSpPr>
          <p:spPr>
            <a:xfrm>
              <a:off x="4738" y="8876738"/>
              <a:ext cx="15322542" cy="2560272"/>
            </a:xfrm>
            <a:custGeom>
              <a:avLst/>
              <a:gdLst/>
              <a:ahLst/>
              <a:cxnLst/>
              <a:rect l="l" t="t" r="r" b="b"/>
              <a:pathLst>
                <a:path w="15322542" h="2560272">
                  <a:moveTo>
                    <a:pt x="0" y="0"/>
                  </a:moveTo>
                  <a:lnTo>
                    <a:pt x="15322542" y="0"/>
                  </a:lnTo>
                  <a:lnTo>
                    <a:pt x="15322542" y="2560272"/>
                  </a:lnTo>
                  <a:lnTo>
                    <a:pt x="0" y="2560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65942" y="263677"/>
            <a:ext cx="7837447" cy="87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3"/>
              </a:lnSpc>
            </a:pPr>
            <a:r>
              <a:rPr lang="en-US" sz="5555" b="1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Cronograma del Proyecto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770827" y="582585"/>
            <a:ext cx="9687259" cy="86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3"/>
              </a:lnSpc>
            </a:pPr>
            <a:r>
              <a:rPr lang="en-US" sz="5555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Stack Tecnológico y Preguntas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81270" y="2604084"/>
            <a:ext cx="7358788" cy="1406445"/>
            <a:chOff x="0" y="0"/>
            <a:chExt cx="9811717" cy="1875261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811717" cy="1875261"/>
              <a:chOff x="0" y="0"/>
              <a:chExt cx="6746679" cy="128945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746718" cy="1289431"/>
              </a:xfrm>
              <a:custGeom>
                <a:avLst/>
                <a:gdLst/>
                <a:ahLst/>
                <a:cxnLst/>
                <a:rect l="l" t="t" r="r" b="b"/>
                <a:pathLst>
                  <a:path w="6746718" h="1289431">
                    <a:moveTo>
                      <a:pt x="0" y="105791"/>
                    </a:moveTo>
                    <a:cubicBezTo>
                      <a:pt x="0" y="47371"/>
                      <a:pt x="45214" y="0"/>
                      <a:pt x="100974" y="0"/>
                    </a:cubicBezTo>
                    <a:lnTo>
                      <a:pt x="6645742" y="0"/>
                    </a:lnTo>
                    <a:cubicBezTo>
                      <a:pt x="6701502" y="0"/>
                      <a:pt x="6746718" y="47371"/>
                      <a:pt x="6746718" y="105791"/>
                    </a:cubicBezTo>
                    <a:lnTo>
                      <a:pt x="6746718" y="1183640"/>
                    </a:lnTo>
                    <a:cubicBezTo>
                      <a:pt x="6746718" y="1242060"/>
                      <a:pt x="6701502" y="1289431"/>
                      <a:pt x="6645742" y="1289431"/>
                    </a:cubicBezTo>
                    <a:lnTo>
                      <a:pt x="100974" y="1289431"/>
                    </a:lnTo>
                    <a:cubicBezTo>
                      <a:pt x="45214" y="1289431"/>
                      <a:pt x="0" y="1242060"/>
                      <a:pt x="0" y="1183640"/>
                    </a:cubicBezTo>
                    <a:close/>
                  </a:path>
                </a:pathLst>
              </a:custGeom>
              <a:solidFill>
                <a:srgbClr val="790709"/>
              </a:solidFill>
              <a:ln w="9532" cap="sq">
                <a:solidFill>
                  <a:srgbClr val="92202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8446656" y="372877"/>
              <a:ext cx="1129507" cy="1129507"/>
            </a:xfrm>
            <a:custGeom>
              <a:avLst/>
              <a:gdLst/>
              <a:ahLst/>
              <a:cxnLst/>
              <a:rect l="l" t="t" r="r" b="b"/>
              <a:pathLst>
                <a:path w="1129507" h="1129507">
                  <a:moveTo>
                    <a:pt x="0" y="0"/>
                  </a:moveTo>
                  <a:lnTo>
                    <a:pt x="1129507" y="0"/>
                  </a:lnTo>
                  <a:lnTo>
                    <a:pt x="1129507" y="1129507"/>
                  </a:lnTo>
                  <a:lnTo>
                    <a:pt x="0" y="1129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9293" y="161265"/>
              <a:ext cx="2263279" cy="4514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903"/>
                </a:lnSpc>
              </a:pPr>
              <a:r>
                <a:rPr lang="en-US" sz="2326" b="1" dirty="0">
                  <a:solidFill>
                    <a:srgbClr val="E5E0D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FRONTEND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295" y="719874"/>
              <a:ext cx="7127554" cy="880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8"/>
                </a:lnSpc>
              </a:pPr>
              <a:r>
                <a:rPr lang="en-US" sz="2074" b="1">
                  <a:solidFill>
                    <a:srgbClr val="E5E0D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React + TypeScript + HTML/CSS</a:t>
              </a:r>
            </a:p>
            <a:p>
              <a:pPr algn="l">
                <a:lnSpc>
                  <a:spcPts val="2638"/>
                </a:lnSpc>
              </a:pPr>
              <a:r>
                <a:rPr lang="en-US" sz="2074">
                  <a:solidFill>
                    <a:srgbClr val="E5E0DF"/>
                  </a:solidFill>
                  <a:latin typeface="Barlow"/>
                  <a:ea typeface="Barlow"/>
                  <a:cs typeface="Barlow"/>
                  <a:sym typeface="Barlow"/>
                </a:rPr>
                <a:t>Interfaz de usuarios, dashboard y visualización.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1270" y="5065363"/>
            <a:ext cx="7358788" cy="1406445"/>
            <a:chOff x="0" y="0"/>
            <a:chExt cx="9811717" cy="187526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9811717" cy="1875261"/>
              <a:chOff x="0" y="0"/>
              <a:chExt cx="6746679" cy="128945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746718" cy="1289431"/>
              </a:xfrm>
              <a:custGeom>
                <a:avLst/>
                <a:gdLst/>
                <a:ahLst/>
                <a:cxnLst/>
                <a:rect l="l" t="t" r="r" b="b"/>
                <a:pathLst>
                  <a:path w="6746718" h="1289431">
                    <a:moveTo>
                      <a:pt x="0" y="105791"/>
                    </a:moveTo>
                    <a:cubicBezTo>
                      <a:pt x="0" y="47371"/>
                      <a:pt x="45214" y="0"/>
                      <a:pt x="100974" y="0"/>
                    </a:cubicBezTo>
                    <a:lnTo>
                      <a:pt x="6645742" y="0"/>
                    </a:lnTo>
                    <a:cubicBezTo>
                      <a:pt x="6701502" y="0"/>
                      <a:pt x="6746718" y="47371"/>
                      <a:pt x="6746718" y="105791"/>
                    </a:cubicBezTo>
                    <a:lnTo>
                      <a:pt x="6746718" y="1183640"/>
                    </a:lnTo>
                    <a:cubicBezTo>
                      <a:pt x="6746718" y="1242060"/>
                      <a:pt x="6701502" y="1289431"/>
                      <a:pt x="6645742" y="1289431"/>
                    </a:cubicBezTo>
                    <a:lnTo>
                      <a:pt x="100974" y="1289431"/>
                    </a:lnTo>
                    <a:cubicBezTo>
                      <a:pt x="45214" y="1289431"/>
                      <a:pt x="0" y="1242060"/>
                      <a:pt x="0" y="1183640"/>
                    </a:cubicBezTo>
                    <a:close/>
                  </a:path>
                </a:pathLst>
              </a:custGeom>
              <a:solidFill>
                <a:srgbClr val="790709"/>
              </a:solidFill>
              <a:ln w="9532" cap="sq">
                <a:solidFill>
                  <a:srgbClr val="92202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8552420" y="425759"/>
              <a:ext cx="1023742" cy="1023742"/>
            </a:xfrm>
            <a:custGeom>
              <a:avLst/>
              <a:gdLst/>
              <a:ahLst/>
              <a:cxnLst/>
              <a:rect l="l" t="t" r="r" b="b"/>
              <a:pathLst>
                <a:path w="1023742" h="1023742">
                  <a:moveTo>
                    <a:pt x="0" y="0"/>
                  </a:moveTo>
                  <a:lnTo>
                    <a:pt x="1023743" y="0"/>
                  </a:lnTo>
                  <a:lnTo>
                    <a:pt x="1023743" y="1023742"/>
                  </a:lnTo>
                  <a:lnTo>
                    <a:pt x="0" y="1023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3181" y="161265"/>
              <a:ext cx="1730375" cy="482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3"/>
                </a:lnSpc>
              </a:pPr>
              <a:r>
                <a:rPr lang="en-US" sz="2326" b="1">
                  <a:solidFill>
                    <a:srgbClr val="E5E0D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BACKEND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3181" y="724163"/>
              <a:ext cx="8106445" cy="880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8"/>
                </a:lnSpc>
              </a:pPr>
              <a:r>
                <a:rPr lang="en-US" sz="2074" b="1">
                  <a:solidFill>
                    <a:srgbClr val="E5E0D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Python + FastAPI + WebSockets</a:t>
              </a:r>
            </a:p>
            <a:p>
              <a:pPr algn="l">
                <a:lnSpc>
                  <a:spcPts val="2638"/>
                </a:lnSpc>
              </a:pPr>
              <a:r>
                <a:rPr lang="en-US" sz="2074">
                  <a:solidFill>
                    <a:srgbClr val="E5E0DF"/>
                  </a:solidFill>
                  <a:latin typeface="Barlow"/>
                  <a:ea typeface="Barlow"/>
                  <a:cs typeface="Barlow"/>
                  <a:sym typeface="Barlow"/>
                </a:rPr>
                <a:t>API, lógica de negocio y comunicación en tiempo real.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81270" y="7529083"/>
            <a:ext cx="7358788" cy="1406445"/>
            <a:chOff x="0" y="0"/>
            <a:chExt cx="9811717" cy="18752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9811717" cy="1875261"/>
              <a:chOff x="0" y="0"/>
              <a:chExt cx="6746679" cy="128945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746718" cy="1289431"/>
              </a:xfrm>
              <a:custGeom>
                <a:avLst/>
                <a:gdLst/>
                <a:ahLst/>
                <a:cxnLst/>
                <a:rect l="l" t="t" r="r" b="b"/>
                <a:pathLst>
                  <a:path w="6746718" h="1289431">
                    <a:moveTo>
                      <a:pt x="0" y="105791"/>
                    </a:moveTo>
                    <a:cubicBezTo>
                      <a:pt x="0" y="47371"/>
                      <a:pt x="45214" y="0"/>
                      <a:pt x="100974" y="0"/>
                    </a:cubicBezTo>
                    <a:lnTo>
                      <a:pt x="6645742" y="0"/>
                    </a:lnTo>
                    <a:cubicBezTo>
                      <a:pt x="6701502" y="0"/>
                      <a:pt x="6746718" y="47371"/>
                      <a:pt x="6746718" y="105791"/>
                    </a:cubicBezTo>
                    <a:lnTo>
                      <a:pt x="6746718" y="1183640"/>
                    </a:lnTo>
                    <a:cubicBezTo>
                      <a:pt x="6746718" y="1242060"/>
                      <a:pt x="6701502" y="1289431"/>
                      <a:pt x="6645742" y="1289431"/>
                    </a:cubicBezTo>
                    <a:lnTo>
                      <a:pt x="100974" y="1289431"/>
                    </a:lnTo>
                    <a:cubicBezTo>
                      <a:pt x="45214" y="1289431"/>
                      <a:pt x="0" y="1242060"/>
                      <a:pt x="0" y="1183640"/>
                    </a:cubicBezTo>
                    <a:close/>
                  </a:path>
                </a:pathLst>
              </a:custGeom>
              <a:solidFill>
                <a:srgbClr val="790709"/>
              </a:solidFill>
              <a:ln w="9532" cap="sq">
                <a:solidFill>
                  <a:srgbClr val="92202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8552420" y="425759"/>
              <a:ext cx="1023742" cy="1023742"/>
            </a:xfrm>
            <a:custGeom>
              <a:avLst/>
              <a:gdLst/>
              <a:ahLst/>
              <a:cxnLst/>
              <a:rect l="l" t="t" r="r" b="b"/>
              <a:pathLst>
                <a:path w="1023742" h="1023742">
                  <a:moveTo>
                    <a:pt x="0" y="0"/>
                  </a:moveTo>
                  <a:lnTo>
                    <a:pt x="1023743" y="0"/>
                  </a:lnTo>
                  <a:lnTo>
                    <a:pt x="1023743" y="1023742"/>
                  </a:lnTo>
                  <a:lnTo>
                    <a:pt x="0" y="1023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4240" y="161265"/>
              <a:ext cx="3852333" cy="4514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903"/>
                </a:lnSpc>
              </a:pPr>
              <a:r>
                <a:rPr lang="en-US" sz="2326" b="1" dirty="0">
                  <a:solidFill>
                    <a:srgbClr val="E5E0D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BASE DE DATOS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4240" y="724163"/>
              <a:ext cx="7268673" cy="880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8"/>
                </a:lnSpc>
              </a:pPr>
              <a:r>
                <a:rPr lang="en-US" sz="2074" b="1">
                  <a:solidFill>
                    <a:srgbClr val="E5E0D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PostgreSQL + PostGIS</a:t>
              </a:r>
            </a:p>
            <a:p>
              <a:pPr algn="l">
                <a:lnSpc>
                  <a:spcPts val="2638"/>
                </a:lnSpc>
              </a:pPr>
              <a:r>
                <a:rPr lang="en-US" sz="2074">
                  <a:solidFill>
                    <a:srgbClr val="E5E0DF"/>
                  </a:solidFill>
                  <a:latin typeface="Barlow"/>
                  <a:ea typeface="Barlow"/>
                  <a:cs typeface="Barlow"/>
                  <a:sym typeface="Barlow"/>
                </a:rPr>
                <a:t>Gestión de información operativa y geoespacial.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00512" y="2604084"/>
            <a:ext cx="7358788" cy="1406445"/>
            <a:chOff x="0" y="0"/>
            <a:chExt cx="9811717" cy="1875261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9811717" cy="1875261"/>
              <a:chOff x="0" y="0"/>
              <a:chExt cx="6746679" cy="128945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746718" cy="1289431"/>
              </a:xfrm>
              <a:custGeom>
                <a:avLst/>
                <a:gdLst/>
                <a:ahLst/>
                <a:cxnLst/>
                <a:rect l="l" t="t" r="r" b="b"/>
                <a:pathLst>
                  <a:path w="6746718" h="1289431">
                    <a:moveTo>
                      <a:pt x="0" y="105791"/>
                    </a:moveTo>
                    <a:cubicBezTo>
                      <a:pt x="0" y="47371"/>
                      <a:pt x="45214" y="0"/>
                      <a:pt x="100974" y="0"/>
                    </a:cubicBezTo>
                    <a:lnTo>
                      <a:pt x="6645742" y="0"/>
                    </a:lnTo>
                    <a:cubicBezTo>
                      <a:pt x="6701502" y="0"/>
                      <a:pt x="6746718" y="47371"/>
                      <a:pt x="6746718" y="105791"/>
                    </a:cubicBezTo>
                    <a:lnTo>
                      <a:pt x="6746718" y="1183640"/>
                    </a:lnTo>
                    <a:cubicBezTo>
                      <a:pt x="6746718" y="1242060"/>
                      <a:pt x="6701502" y="1289431"/>
                      <a:pt x="6645742" y="1289431"/>
                    </a:cubicBezTo>
                    <a:lnTo>
                      <a:pt x="100974" y="1289431"/>
                    </a:lnTo>
                    <a:cubicBezTo>
                      <a:pt x="45214" y="1289431"/>
                      <a:pt x="0" y="1242060"/>
                      <a:pt x="0" y="1183640"/>
                    </a:cubicBezTo>
                    <a:close/>
                  </a:path>
                </a:pathLst>
              </a:custGeom>
              <a:solidFill>
                <a:srgbClr val="790709"/>
              </a:solidFill>
              <a:ln w="9532" cap="sq">
                <a:solidFill>
                  <a:srgbClr val="92202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8317296" y="446234"/>
              <a:ext cx="1198528" cy="982793"/>
            </a:xfrm>
            <a:custGeom>
              <a:avLst/>
              <a:gdLst/>
              <a:ahLst/>
              <a:cxnLst/>
              <a:rect l="l" t="t" r="r" b="b"/>
              <a:pathLst>
                <a:path w="1198528" h="982793">
                  <a:moveTo>
                    <a:pt x="0" y="0"/>
                  </a:moveTo>
                  <a:lnTo>
                    <a:pt x="1198528" y="0"/>
                  </a:lnTo>
                  <a:lnTo>
                    <a:pt x="1198528" y="982793"/>
                  </a:lnTo>
                  <a:lnTo>
                    <a:pt x="0" y="982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8811" y="161265"/>
              <a:ext cx="2156907" cy="4514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903"/>
                </a:lnSpc>
              </a:pPr>
              <a:r>
                <a:rPr lang="en-US" sz="2326" b="1" dirty="0">
                  <a:solidFill>
                    <a:srgbClr val="E5E0D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MAPAS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8811" y="719874"/>
              <a:ext cx="6227447" cy="880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8"/>
                </a:lnSpc>
              </a:pPr>
              <a:r>
                <a:rPr lang="en-US" sz="2074" b="1">
                  <a:solidFill>
                    <a:srgbClr val="E5E0D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Leaflet + OpenStreetMap</a:t>
              </a:r>
            </a:p>
            <a:p>
              <a:pPr algn="l">
                <a:lnSpc>
                  <a:spcPts val="2638"/>
                </a:lnSpc>
              </a:pPr>
              <a:r>
                <a:rPr lang="en-US" sz="2074">
                  <a:solidFill>
                    <a:srgbClr val="E5E0DF"/>
                  </a:solidFill>
                  <a:latin typeface="Barlow"/>
                  <a:ea typeface="Barlow"/>
                  <a:cs typeface="Barlow"/>
                  <a:sym typeface="Barlow"/>
                </a:rPr>
                <a:t>Visualización de emergencias y recursos.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00512" y="5065363"/>
            <a:ext cx="7358788" cy="1406445"/>
            <a:chOff x="0" y="0"/>
            <a:chExt cx="9811717" cy="1875261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9811717" cy="1875261"/>
              <a:chOff x="0" y="0"/>
              <a:chExt cx="6746679" cy="128945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746718" cy="1289431"/>
              </a:xfrm>
              <a:custGeom>
                <a:avLst/>
                <a:gdLst/>
                <a:ahLst/>
                <a:cxnLst/>
                <a:rect l="l" t="t" r="r" b="b"/>
                <a:pathLst>
                  <a:path w="6746718" h="1289431">
                    <a:moveTo>
                      <a:pt x="0" y="105791"/>
                    </a:moveTo>
                    <a:cubicBezTo>
                      <a:pt x="0" y="47371"/>
                      <a:pt x="45214" y="0"/>
                      <a:pt x="100974" y="0"/>
                    </a:cubicBezTo>
                    <a:lnTo>
                      <a:pt x="6645742" y="0"/>
                    </a:lnTo>
                    <a:cubicBezTo>
                      <a:pt x="6701502" y="0"/>
                      <a:pt x="6746718" y="47371"/>
                      <a:pt x="6746718" y="105791"/>
                    </a:cubicBezTo>
                    <a:lnTo>
                      <a:pt x="6746718" y="1183640"/>
                    </a:lnTo>
                    <a:cubicBezTo>
                      <a:pt x="6746718" y="1242060"/>
                      <a:pt x="6701502" y="1289431"/>
                      <a:pt x="6645742" y="1289431"/>
                    </a:cubicBezTo>
                    <a:lnTo>
                      <a:pt x="100974" y="1289431"/>
                    </a:lnTo>
                    <a:cubicBezTo>
                      <a:pt x="45214" y="1289431"/>
                      <a:pt x="0" y="1242060"/>
                      <a:pt x="0" y="1183640"/>
                    </a:cubicBezTo>
                    <a:close/>
                  </a:path>
                </a:pathLst>
              </a:custGeom>
              <a:solidFill>
                <a:srgbClr val="790709"/>
              </a:solidFill>
              <a:ln w="9532" cap="sq">
                <a:solidFill>
                  <a:srgbClr val="92202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8552251" y="387017"/>
              <a:ext cx="963573" cy="1101227"/>
            </a:xfrm>
            <a:custGeom>
              <a:avLst/>
              <a:gdLst/>
              <a:ahLst/>
              <a:cxnLst/>
              <a:rect l="l" t="t" r="r" b="b"/>
              <a:pathLst>
                <a:path w="963573" h="1101227">
                  <a:moveTo>
                    <a:pt x="0" y="0"/>
                  </a:moveTo>
                  <a:lnTo>
                    <a:pt x="963573" y="0"/>
                  </a:lnTo>
                  <a:lnTo>
                    <a:pt x="963573" y="1101227"/>
                  </a:lnTo>
                  <a:lnTo>
                    <a:pt x="0" y="1101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8811" y="161265"/>
              <a:ext cx="4617048" cy="4803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3"/>
                </a:lnSpc>
              </a:pPr>
              <a:r>
                <a:rPr lang="en-US" sz="2326" b="1">
                  <a:solidFill>
                    <a:srgbClr val="E5E0D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DATOS / PREDICCIONES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8811" y="724163"/>
              <a:ext cx="5755028" cy="880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8"/>
                </a:lnSpc>
              </a:pPr>
              <a:r>
                <a:rPr lang="en-US" sz="2074" b="1">
                  <a:solidFill>
                    <a:srgbClr val="E5E0D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Python + Pandas + Scikit-learn</a:t>
              </a:r>
            </a:p>
            <a:p>
              <a:pPr algn="l">
                <a:lnSpc>
                  <a:spcPts val="2638"/>
                </a:lnSpc>
              </a:pPr>
              <a:r>
                <a:rPr lang="en-US" sz="2074">
                  <a:solidFill>
                    <a:srgbClr val="E5E0DF"/>
                  </a:solidFill>
                  <a:latin typeface="Barlow"/>
                  <a:ea typeface="Barlow"/>
                  <a:cs typeface="Barlow"/>
                  <a:sym typeface="Barlow"/>
                </a:rPr>
                <a:t>Análisis histórico y modelo predictivo.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00512" y="7529083"/>
            <a:ext cx="7358788" cy="1406445"/>
            <a:chOff x="0" y="0"/>
            <a:chExt cx="9811717" cy="1875261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9811717" cy="1875261"/>
              <a:chOff x="0" y="0"/>
              <a:chExt cx="6746679" cy="128945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746718" cy="1289431"/>
              </a:xfrm>
              <a:custGeom>
                <a:avLst/>
                <a:gdLst/>
                <a:ahLst/>
                <a:cxnLst/>
                <a:rect l="l" t="t" r="r" b="b"/>
                <a:pathLst>
                  <a:path w="6746718" h="1289431">
                    <a:moveTo>
                      <a:pt x="0" y="105791"/>
                    </a:moveTo>
                    <a:cubicBezTo>
                      <a:pt x="0" y="47371"/>
                      <a:pt x="45214" y="0"/>
                      <a:pt x="100974" y="0"/>
                    </a:cubicBezTo>
                    <a:lnTo>
                      <a:pt x="6645742" y="0"/>
                    </a:lnTo>
                    <a:cubicBezTo>
                      <a:pt x="6701502" y="0"/>
                      <a:pt x="6746718" y="47371"/>
                      <a:pt x="6746718" y="105791"/>
                    </a:cubicBezTo>
                    <a:lnTo>
                      <a:pt x="6746718" y="1183640"/>
                    </a:lnTo>
                    <a:cubicBezTo>
                      <a:pt x="6746718" y="1242060"/>
                      <a:pt x="6701502" y="1289431"/>
                      <a:pt x="6645742" y="1289431"/>
                    </a:cubicBezTo>
                    <a:lnTo>
                      <a:pt x="100974" y="1289431"/>
                    </a:lnTo>
                    <a:cubicBezTo>
                      <a:pt x="45214" y="1289431"/>
                      <a:pt x="0" y="1242060"/>
                      <a:pt x="0" y="1183640"/>
                    </a:cubicBezTo>
                    <a:close/>
                  </a:path>
                </a:pathLst>
              </a:custGeom>
              <a:solidFill>
                <a:srgbClr val="790709"/>
              </a:solidFill>
              <a:ln w="9532" cap="sq">
                <a:solidFill>
                  <a:srgbClr val="92202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8152454" y="482987"/>
              <a:ext cx="1528213" cy="909286"/>
            </a:xfrm>
            <a:custGeom>
              <a:avLst/>
              <a:gdLst/>
              <a:ahLst/>
              <a:cxnLst/>
              <a:rect l="l" t="t" r="r" b="b"/>
              <a:pathLst>
                <a:path w="1528213" h="909286">
                  <a:moveTo>
                    <a:pt x="0" y="0"/>
                  </a:moveTo>
                  <a:lnTo>
                    <a:pt x="1528213" y="0"/>
                  </a:lnTo>
                  <a:lnTo>
                    <a:pt x="1528213" y="909287"/>
                  </a:lnTo>
                  <a:lnTo>
                    <a:pt x="0" y="909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8811" y="75279"/>
              <a:ext cx="3501153" cy="4803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03"/>
                </a:lnSpc>
              </a:pPr>
              <a:r>
                <a:rPr lang="en-US" sz="2326" b="1">
                  <a:solidFill>
                    <a:srgbClr val="E5E0D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INFRAESTRUCTURA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88811" y="638177"/>
              <a:ext cx="4549883" cy="8803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38"/>
                </a:lnSpc>
              </a:pPr>
              <a:r>
                <a:rPr lang="en-US" sz="2074" b="1">
                  <a:solidFill>
                    <a:srgbClr val="E5E0D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Docker / Docker Compose</a:t>
              </a:r>
            </a:p>
            <a:p>
              <a:pPr algn="l">
                <a:lnSpc>
                  <a:spcPts val="2638"/>
                </a:lnSpc>
              </a:pPr>
              <a:r>
                <a:rPr lang="en-US" sz="2074">
                  <a:solidFill>
                    <a:srgbClr val="E5E0DF"/>
                  </a:solidFill>
                  <a:latin typeface="Barlow"/>
                  <a:ea typeface="Barlow"/>
                  <a:cs typeface="Barlow"/>
                  <a:sym typeface="Barlow"/>
                </a:rPr>
                <a:t>Contenerización y despliegue.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870</Words>
  <Application>Microsoft Office PowerPoint</Application>
  <PresentationFormat>Personalizado</PresentationFormat>
  <Paragraphs>134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Barlow Medium</vt:lpstr>
      <vt:lpstr>Calibri</vt:lpstr>
      <vt:lpstr>Barlow Bold</vt:lpstr>
      <vt:lpstr>Barlow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Proyecto-Alerta360.pptx</dc:title>
  <cp:lastModifiedBy>Bruno Molina P.</cp:lastModifiedBy>
  <cp:revision>3</cp:revision>
  <dcterms:created xsi:type="dcterms:W3CDTF">2006-08-16T00:00:00Z</dcterms:created>
  <dcterms:modified xsi:type="dcterms:W3CDTF">2026-09-04T23:10:19Z</dcterms:modified>
  <dc:identifier>DAHT0xXpXgQ</dc:identifier>
</cp:coreProperties>
</file>